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cd9c0ef1fd4d06" /><Relationship Type="http://schemas.openxmlformats.org/officeDocument/2006/relationships/extended-properties" Target="/docProps/app.xml" Id="R23988565bfc9459b" /><Relationship Type="http://schemas.openxmlformats.org/officeDocument/2006/relationships/officeDocument" Target="/ppt/presentation.xml" Id="Rca90ee8dc7c045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8084784d23492d"/>
  </p:sldMasterIdLst>
  <p:notesMasterIdLst>
    <p:notesMasterId xmlns:r="http://schemas.openxmlformats.org/officeDocument/2006/relationships" r:id="R5382286507ca4e74"/>
  </p:notesMasterIdLst>
  <p:sldIdLst>
    <p:sldId xmlns:r="http://schemas.openxmlformats.org/officeDocument/2006/relationships" id="256" r:id="R957b5f45089d4bee"/>
    <p:sldId xmlns:r="http://schemas.openxmlformats.org/officeDocument/2006/relationships" id="257" r:id="R7d4afa1e71d344d1"/>
    <p:sldId xmlns:r="http://schemas.openxmlformats.org/officeDocument/2006/relationships" id="258" r:id="Rb54263de71a24f2b"/>
    <p:sldId xmlns:r="http://schemas.openxmlformats.org/officeDocument/2006/relationships" id="259" r:id="R4fb124b5631344d9"/>
    <p:sldId xmlns:r="http://schemas.openxmlformats.org/officeDocument/2006/relationships" id="260" r:id="R12cf02e27f5d43a5"/>
    <p:sldId xmlns:r="http://schemas.openxmlformats.org/officeDocument/2006/relationships" id="261" r:id="R112c625a0e504170"/>
    <p:sldId xmlns:r="http://schemas.openxmlformats.org/officeDocument/2006/relationships" id="262" r:id="Re2de1dd00a4e4324"/>
    <p:sldId xmlns:r="http://schemas.openxmlformats.org/officeDocument/2006/relationships" id="263" r:id="Ra6c5e4d9c83d424e"/>
    <p:sldId xmlns:r="http://schemas.openxmlformats.org/officeDocument/2006/relationships" id="264" r:id="Re2f4a24da38240b9"/>
    <p:sldId xmlns:r="http://schemas.openxmlformats.org/officeDocument/2006/relationships" id="265" r:id="R66de2d8dfb2f429d"/>
    <p:sldId xmlns:r="http://schemas.openxmlformats.org/officeDocument/2006/relationships" id="266" r:id="R2acb22cb9cec48db"/>
    <p:sldId xmlns:r="http://schemas.openxmlformats.org/officeDocument/2006/relationships" id="267" r:id="Rc3767b3565c54ab8"/>
    <p:sldId xmlns:r="http://schemas.openxmlformats.org/officeDocument/2006/relationships" id="268" r:id="R5ceb6cc4c3624146"/>
    <p:sldId xmlns:r="http://schemas.openxmlformats.org/officeDocument/2006/relationships" id="269" r:id="Rca0d3c7cbca546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7badaafa7e41dc" /><Relationship Type="http://schemas.openxmlformats.org/officeDocument/2006/relationships/slideMaster" Target="/ppt/slideMasters/slideMaster1.xml" Id="R958084784d23492d" /><Relationship Type="http://schemas.openxmlformats.org/officeDocument/2006/relationships/notesMaster" Target="/ppt/notesMasters/notesMaster1.xml" Id="R5382286507ca4e74" /><Relationship Type="http://schemas.openxmlformats.org/officeDocument/2006/relationships/presProps" Target="/ppt/presProps.xml" Id="Rf66b0a617a07430f" /><Relationship Type="http://schemas.openxmlformats.org/officeDocument/2006/relationships/tableStyles" Target="/ppt/tableStyles.xml" Id="R05fa408ec3894640" /><Relationship Type="http://schemas.openxmlformats.org/officeDocument/2006/relationships/slide" Target="/ppt/slides/slide1.xml" Id="R957b5f45089d4bee" /><Relationship Type="http://schemas.openxmlformats.org/officeDocument/2006/relationships/slide" Target="/ppt/slides/slide2.xml" Id="R7d4afa1e71d344d1" /><Relationship Type="http://schemas.openxmlformats.org/officeDocument/2006/relationships/slide" Target="/ppt/slides/slide3.xml" Id="Rb54263de71a24f2b" /><Relationship Type="http://schemas.openxmlformats.org/officeDocument/2006/relationships/slide" Target="/ppt/slides/slide4.xml" Id="R4fb124b5631344d9" /><Relationship Type="http://schemas.openxmlformats.org/officeDocument/2006/relationships/slide" Target="/ppt/slides/slide5.xml" Id="R12cf02e27f5d43a5" /><Relationship Type="http://schemas.openxmlformats.org/officeDocument/2006/relationships/slide" Target="/ppt/slides/slide6.xml" Id="R112c625a0e504170" /><Relationship Type="http://schemas.openxmlformats.org/officeDocument/2006/relationships/slide" Target="/ppt/slides/slide7.xml" Id="Re2de1dd00a4e4324" /><Relationship Type="http://schemas.openxmlformats.org/officeDocument/2006/relationships/slide" Target="/ppt/slides/slide8.xml" Id="Ra6c5e4d9c83d424e" /><Relationship Type="http://schemas.openxmlformats.org/officeDocument/2006/relationships/slide" Target="/ppt/slides/slide9.xml" Id="Re2f4a24da38240b9" /><Relationship Type="http://schemas.openxmlformats.org/officeDocument/2006/relationships/slide" Target="/ppt/slides/slide10.xml" Id="R66de2d8dfb2f429d" /><Relationship Type="http://schemas.openxmlformats.org/officeDocument/2006/relationships/slide" Target="/ppt/slides/slide11.xml" Id="R2acb22cb9cec48db" /><Relationship Type="http://schemas.openxmlformats.org/officeDocument/2006/relationships/slide" Target="/ppt/slides/slide12.xml" Id="Rc3767b3565c54ab8" /><Relationship Type="http://schemas.openxmlformats.org/officeDocument/2006/relationships/slide" Target="/ppt/slides/slide13.xml" Id="R5ceb6cc4c3624146" /><Relationship Type="http://schemas.openxmlformats.org/officeDocument/2006/relationships/slide" Target="/ppt/slides/slide14.xml" Id="Rca0d3c7cbca546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85057b6c414c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a23025f33346c0" /><Relationship Type="http://schemas.openxmlformats.org/officeDocument/2006/relationships/notesMaster" Target="/ppt/notesMasters/notesMaster1.xml" Id="R2efd9187aed14e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99d0f19a6948ed" /><Relationship Type="http://schemas.openxmlformats.org/officeDocument/2006/relationships/notesMaster" Target="/ppt/notesMasters/notesMaster1.xml" Id="R3024528bd73d4e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4b029441474194" /><Relationship Type="http://schemas.openxmlformats.org/officeDocument/2006/relationships/notesMaster" Target="/ppt/notesMasters/notesMaster1.xml" Id="Rcb1bfeb751554f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995692984f43af" /><Relationship Type="http://schemas.openxmlformats.org/officeDocument/2006/relationships/notesMaster" Target="/ppt/notesMasters/notesMaster1.xml" Id="R1a95a5b9553a48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9ad3edaadb4560" /><Relationship Type="http://schemas.openxmlformats.org/officeDocument/2006/relationships/notesMaster" Target="/ppt/notesMasters/notesMaster1.xml" Id="Rfeb9f67e7dd34b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10a72e5d414b9d" /><Relationship Type="http://schemas.openxmlformats.org/officeDocument/2006/relationships/notesMaster" Target="/ppt/notesMasters/notesMaster1.xml" Id="Ra52cb26ca9f74e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80fdbbe33f4651" /><Relationship Type="http://schemas.openxmlformats.org/officeDocument/2006/relationships/notesMaster" Target="/ppt/notesMasters/notesMaster1.xml" Id="R4329f0c9688c48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c8005d24af4a32" /><Relationship Type="http://schemas.openxmlformats.org/officeDocument/2006/relationships/notesMaster" Target="/ppt/notesMasters/notesMaster1.xml" Id="R80bbfa798eeb4b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a2adbad0d2459b" /><Relationship Type="http://schemas.openxmlformats.org/officeDocument/2006/relationships/notesMaster" Target="/ppt/notesMasters/notesMaster1.xml" Id="Rc376ba4ce28448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3f49fcf94e4600" /><Relationship Type="http://schemas.openxmlformats.org/officeDocument/2006/relationships/notesMaster" Target="/ppt/notesMasters/notesMaster1.xml" Id="R35cba01c63f645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008f2d9a8a4728" /><Relationship Type="http://schemas.openxmlformats.org/officeDocument/2006/relationships/notesMaster" Target="/ppt/notesMasters/notesMaster1.xml" Id="R639a894067374f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6df00aad5b4da9" /><Relationship Type="http://schemas.openxmlformats.org/officeDocument/2006/relationships/notesMaster" Target="/ppt/notesMasters/notesMaster1.xml" Id="R85c418c3c71047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3f8043f1734afe" /><Relationship Type="http://schemas.openxmlformats.org/officeDocument/2006/relationships/notesMaster" Target="/ppt/notesMasters/notesMaster1.xml" Id="R5c0fb3e5228b4f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ce4e898cfb4e5c" /><Relationship Type="http://schemas.openxmlformats.org/officeDocument/2006/relationships/notesMaster" Target="/ppt/notesMasters/notesMaster1.xml" Id="R5bf078560a544a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Открыть с формулировки задачи: отделить технически воспроизводимый результат от честной оценки обобщения.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/Users/aidarryazhapov/Documents/absorb/pro/AUDIT_REPORT.md — сводный локальный аудит репозитория pro</a:t>
            </a:r>
          </a:p>
          <a:p xmlns:a="http://schemas.openxmlformats.org/drawingml/2006/main">
            <a:r>
              <a:t>- /Users/aidarryazhapov/Documents/absorb/pro/infer.py — основной inference entry point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Clean retrain относится к aux_conditioning. В xuv_max и aux_pretrain source исправлен, но historical outputs ещё требуют полного retrain.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/Users/aidarryazhapov/Documents/absorb/pro/CLEAN_RUN_REPORT.md — post-fix протокол и clean-метрики</a:t>
            </a:r>
          </a:p>
          <a:p xmlns:a="http://schemas.openxmlformats.org/drawingml/2006/main">
            <a:r>
              <a:t>- /Users/aidarryazhapov/Documents/absorb/pro/AUDIT_REPORT.md — ограничения evaluation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Развести термины: переиспользование holdout — selection bias; cross-split повторы — структурная зависимость; ни то ни другое не равно прямой утечке labels в основной model 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/Users/aidarryazhapov/Documents/absorb/pro/AUDIT_REPORT.md — разделы о split, near-duplicates и model-selection bias</a:t>
            </a:r>
          </a:p>
          <a:p xmlns:a="http://schemas.openxmlformats.org/drawingml/2006/main">
            <a:r>
              <a:t>- /Users/aidarryazhapov/Documents/absorb/pro/checkpoints/preproc.npz — сохранённые train/validation indices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Подчеркнуть, что каждый из 25 кандидатов — совместный трёхмерный вектор. Coordinate-wise oracle позже разрушает эту совместность при подсчёте метрики.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/Users/aidarryazhapov/Documents/absorb/pro/model_defs.py — определения CNN backbone, regression heads и H2a head</a:t>
            </a:r>
          </a:p>
          <a:p xmlns:a="http://schemas.openxmlformats.org/drawingml/2006/main">
            <a:r>
              <a:t>- /Users/aidarryazhapov/Documents/absorb/pro/training_plots/architecture.png — локальная схема архитектуры</a:t>
            </a:r>
          </a:p>
          <a:p xmlns:a="http://schemas.openxmlformats.org/drawingml/2006/main">
            <a:r>
              <a:t>- /Users/aidarryazhapov/Documents/absorb/pro/AUDIT_REPORT.md — раздел «Архитектура» и подсчёт параметров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называть это early stopping: все модели проходят 400 эпох, затем сохраняется минимум validation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/Users/aidarryazhapov/Documents/absorb/pro/train_and_save.py — seeds, epochs, optimizer, scheduler, augmentation и checkpoint selection</a:t>
            </a:r>
          </a:p>
          <a:p xmlns:a="http://schemas.openxmlformats.org/drawingml/2006/main">
            <a:r>
              <a:t>- /Users/aidarryazhapov/Documents/absorb/pro/model_defs.py — WTA loss и размерности heads</a:t>
            </a:r>
          </a:p>
          <a:p xmlns:a="http://schemas.openxmlformats.org/drawingml/2006/main">
            <a:r>
              <a:t>- /Users/aidarryazhapov/Documents/absorb/pro/AUDIT_REPORT.md — раздел «Параметры обучения»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Главный график: лучший oracle результат не переходит напрямую в single-answer режим. Значение 0.63% относится к log10(Msw), не к физическому Msw.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/Users/aidarryazhapov/Documents/absorb/pro/AUDIT_REPORT.md — повторный инференс, single-answer mean-25 и ranker top-1</a:t>
            </a:r>
          </a:p>
          <a:p xmlns:a="http://schemas.openxmlformats.org/drawingml/2006/main">
            <a:r>
              <a:t>- /Users/aidarryazhapov/Documents/absorb/pro/infer.py — формирование 25 кандидатов и текущая стратегия ранжирования</a:t>
            </a:r>
          </a:p>
          <a:p xmlns:a="http://schemas.openxmlformats.org/drawingml/2006/main">
            <a:r>
              <a:t>- /Users/aidarryazhapov/Documents/absorb/pro/checkpoints/ — веса, использованные для повторного инференса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выносить joint-oracle число без определения distance weights. Здесь достаточно показать контраст oracle и реально доступного single-answer.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/Users/aidarryazhapov/Documents/absorb/pro/AUDIT_REPORT.md — раздел «Что реально означает best-of-5»</a:t>
            </a:r>
          </a:p>
          <a:p xmlns:a="http://schemas.openxmlformats.org/drawingml/2006/main">
            <a:r>
              <a:t>- /Users/aidarryazhapov/Documents/absorb/pro/dl_pro.ipynb — реализация coordinate-wise best-of-5</a:t>
            </a:r>
          </a:p>
          <a:p xmlns:a="http://schemas.openxmlformats.org/drawingml/2006/main">
            <a:r>
              <a:t>- /Users/aidarryazhapov/Documents/absorb/pro/methodology_note_bestofk.ipynb — чувствительность метрики к 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Историческая transductive leakage материально меняла train supervision. Production runner теперь не содержит legacy compatibility mode.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/Users/aidarryazhapov/Documents/absorb/pro/CLEAN_RUN_REPORT.md — точное исправление и counts</a:t>
            </a:r>
          </a:p>
          <a:p xmlns:a="http://schemas.openxmlformats.org/drawingml/2006/main">
            <a:r>
              <a:t>- /Users/aidarryazhapov/Documents/absorb/pro/run_aux_conditioning.py — train-only runner</a:t>
            </a:r>
          </a:p>
          <a:p xmlns:a="http://schemas.openxmlformats.org/drawingml/2006/main">
            <a:r>
              <a:t>- /Users/aidarryazhapov/Documents/absorb/pro/runs/aux_conditioning_train_only/planet_pseudolabel_summary.json — 466 train / 0 validation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Левая диаграмма обновляет только последнюю Conditioning-строку. Headline — coordinate-wise oracle best-of-5; ranker top-1 не использует истину и заметно слабее.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/Users/aidarryazhapov/Documents/absorb/pro/runs/aux_conditioning_train_only/metrics.json — clean oracle, H2a и top-1</a:t>
            </a:r>
          </a:p>
          <a:p xmlns:a="http://schemas.openxmlformats.org/drawingml/2006/main">
            <a:r>
              <a:t>- /Users/aidarryazhapov/Documents/absorb/pro/CLEAN_RUN_REPORT.md — определения метрик и caveats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Независимый verifier пересчитал метрики из NPZ; отдельная проверка повторила candidates, ranker scores, hashes, split и preprocessing.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/Users/aidarryazhapov/Documents/absorb/pro/runs/aux_conditioning_train_only/artifact_manifest.json — hashes</a:t>
            </a:r>
          </a:p>
          <a:p xmlns:a="http://schemas.openxmlformats.org/drawingml/2006/main">
            <a:r>
              <a:t>- /Users/aidarryazhapov/Documents/absorb/pro/runs/aux_conditioning_train_only/config.json — полный run config</a:t>
            </a:r>
          </a:p>
          <a:p xmlns:a="http://schemas.openxmlformats.org/drawingml/2006/main">
            <a:r>
              <a:t>- /Users/aidarryazhapov/Documents/absorb/pro/verify_aux_conditioning_run.py — независимый metric check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Исправление leakage и воспроизводимый clean run выполнены. Следующий логический шаг — frozen group-held-out test; после него нельзя продолжать 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/Users/aidarryazhapov/Documents/absorb/pro/CLEAN_RUN_REPORT.md — выполненные post-fix действия</a:t>
            </a:r>
          </a:p>
          <a:p xmlns:a="http://schemas.openxmlformats.org/drawingml/2006/main">
            <a:r>
              <a:t>- /Users/aidarryazhapov/Documents/absorb/pro/AUDIT_REPORT.md — оставшиеся P0/P1 ограничения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Clean conditioned run можно показывать как исследовательский development result. Публикационный claim об обобщении остаётся преждевременным без независимого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/Users/aidarryazhapov/Documents/absorb/pro/CLEAN_RUN_REPORT.md — clean result и ограничения</a:t>
            </a:r>
          </a:p>
          <a:p xmlns:a="http://schemas.openxmlformats.org/drawingml/2006/main">
            <a:r>
              <a:t>- /Users/aidarryazhapov/Documents/absorb/pro/AUDIT_REPORT.md — финальная оценка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Физическое conditioning добавляет 9 признаков к embedding 1536, поэтому regression head получает 1545. Planet head создаёт softmax-смесь трёх физических векторов.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/Users/aidarryazhapov/Documents/absorb/pro/run_aux_conditioning.py — архитектура, loss и runner</a:t>
            </a:r>
          </a:p>
          <a:p xmlns:a="http://schemas.openxmlformats.org/drawingml/2006/main">
            <a:r>
              <a:t>- /Users/aidarryazhapov/Documents/absorb/pro/runs/aux_conditioning_train_only/config.json — параметры clean run</a:t>
            </a:r>
          </a:p>
          <a:p xmlns:a="http://schemas.openxmlformats.org/drawingml/2006/main">
            <a:r>
              <a:t>- /Users/aidarryazhapov/Documents/absorb/pro/CLEAN_RUN_REPORT.md — сводный протокол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Conditioning-строка теперь относится к clean train-only full retrain. Остальные alternative model строки сохраняют прежний evidence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/Users/aidarryazhapov/Documents/absorb/pro/runs/aux_conditioning_train_only/metrics.json — clean Conditioning row</a:t>
            </a:r>
          </a:p>
          <a:p xmlns:a="http://schemas.openxmlformats.org/drawingml/2006/main">
            <a:r>
              <a:t>- /Users/aidarryazhapov/Documents/absorb/pro/AUDIT_REPORT.md — experiment matrix и evidence status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2dd5ec65b54d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cc5300fe214ad1" /><Relationship Type="http://schemas.openxmlformats.org/officeDocument/2006/relationships/slideLayout" Target="/ppt/slideLayouts/slideLayout1.xml" Id="R00863f372d9445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863f372d9445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7c370208842f5" /><Relationship Type="http://schemas.openxmlformats.org/officeDocument/2006/relationships/notesSlide" Target="/ppt/notesSlides/notesSlide1.xml" Id="R2d7baec1936c44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7428dc34d4f63" /><Relationship Type="http://schemas.openxmlformats.org/officeDocument/2006/relationships/notesSlide" Target="/ppt/notesSlides/notesSlide2.xml" Id="Raf62ad52677f44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ffaa786f14d3a" /><Relationship Type="http://schemas.openxmlformats.org/officeDocument/2006/relationships/notesSlide" Target="/ppt/notesSlides/notesSlide3.xml" Id="R35c8ae9609bd41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4fe1e793f43be" /><Relationship Type="http://schemas.openxmlformats.org/officeDocument/2006/relationships/image" Target="/ppt/media/image.png" Id="Rc66378e93190451f" /><Relationship Type="http://schemas.openxmlformats.org/officeDocument/2006/relationships/notesSlide" Target="/ppt/notesSlides/notesSlide4.xml" Id="R1523278dbfae45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41cab9ff7410c" /><Relationship Type="http://schemas.openxmlformats.org/officeDocument/2006/relationships/notesSlide" Target="/ppt/notesSlides/notesSlide5.xml" Id="R72fc53413a4246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a3bac7e6e4eb4" /><Relationship Type="http://schemas.openxmlformats.org/officeDocument/2006/relationships/chart" Target="/ppt/slides/charts/chart1.xml" Id="R107213dc28e44955" /><Relationship Type="http://schemas.openxmlformats.org/officeDocument/2006/relationships/chart" Target="/ppt/slides/charts/chart2.xml" Id="Ra389dfbf8e3643c4" /><Relationship Type="http://schemas.openxmlformats.org/officeDocument/2006/relationships/notesSlide" Target="/ppt/notesSlides/notesSlide6.xml" Id="R8cc41575bdc84e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8be439c4a44eb" /><Relationship Type="http://schemas.openxmlformats.org/officeDocument/2006/relationships/notesSlide" Target="/ppt/notesSlides/notesSlide7.xml" Id="Rc693ee494a4640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9dab797ec4e39" /><Relationship Type="http://schemas.openxmlformats.org/officeDocument/2006/relationships/notesSlide" Target="/ppt/notesSlides/notesSlide8.xml" Id="R959916ca59e842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b676d0eed4364" /><Relationship Type="http://schemas.openxmlformats.org/officeDocument/2006/relationships/chart" Target="/ppt/slides/charts/chart3.xml" Id="Rc75a971c94924007" /><Relationship Type="http://schemas.openxmlformats.org/officeDocument/2006/relationships/chart" Target="/ppt/slides/charts/chart4.xml" Id="R7731c04ee5d7417e" /><Relationship Type="http://schemas.openxmlformats.org/officeDocument/2006/relationships/notesSlide" Target="/ppt/notesSlides/notesSlide9.xml" Id="R77b737f64c224d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5252f74a14c72" /><Relationship Type="http://schemas.openxmlformats.org/officeDocument/2006/relationships/notesSlide" Target="/ppt/notesSlides/notesSlide10.xml" Id="R662ad862f78b4a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269e7a7db4a06" /><Relationship Type="http://schemas.openxmlformats.org/officeDocument/2006/relationships/notesSlide" Target="/ppt/notesSlides/notesSlide11.xml" Id="R89d26c4284a348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9d80a94e9422b" /><Relationship Type="http://schemas.openxmlformats.org/officeDocument/2006/relationships/notesSlide" Target="/ppt/notesSlides/notesSlide12.xml" Id="R246d1648bf7840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1e2e078144568" /><Relationship Type="http://schemas.openxmlformats.org/officeDocument/2006/relationships/notesSlide" Target="/ppt/notesSlides/notesSlide13.xml" Id="R0f28dbd6ad8043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b986d26d14026" /><Relationship Type="http://schemas.openxmlformats.org/officeDocument/2006/relationships/notesSlide" Target="/ppt/notesSlides/notesSlide14.xml" Id="R6ef77779c1424ce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Series 1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1.6</c:v>
              </c:pt>
              <c:pt idx="1">
                <c:v>2.2</c:v>
              </c:pt>
              <c:pt idx="2">
                <c:v>3.5</c:v>
              </c:pt>
              <c:pt idx="3">
                <c:v>5.8</c:v>
              </c:pt>
            </c:numLit>
          </c:val>
        </c:ser>
        <c:ser>
          <c:idx val="1"/>
          <c:order val="1"/>
          <c:tx>
            <c:v>Series 2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1.7</c:v>
              </c:pt>
              <c:pt idx="1">
                <c:v>2.4</c:v>
              </c:pt>
              <c:pt idx="2">
                <c:v>5</c:v>
              </c:pt>
              <c:pt idx="3">
                <c:v>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XUV MAPE, %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Oracle best-5</c:v>
              </c:pt>
              <c:pt idx="1">
                <c:v>Ranker top-1</c:v>
              </c:pt>
              <c:pt idx="2">
                <c:v>Mean of 25</c:v>
              </c:pt>
            </c:strLit>
          </c:cat>
          <c:val>
            <c:numLit>
              <c:formatCode>General</c:formatCode>
              <c:ptCount val="3"/>
              <c:pt idx="0">
                <c:v>10.781</c:v>
              </c:pt>
              <c:pt idx="1">
                <c:v>21.37</c:v>
              </c:pt>
              <c:pt idx="2">
                <c:v>31.93</c:v>
              </c:pt>
            </c:numLit>
          </c:val>
        </c:ser>
        <c:ser>
          <c:idx val="1"/>
          <c:order val="1"/>
          <c:tx>
            <c:v>Helium MAPE, %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Oracle best-5</c:v>
              </c:pt>
              <c:pt idx="1">
                <c:v>Ranker top-1</c:v>
              </c:pt>
              <c:pt idx="2">
                <c:v>Mean of 25</c:v>
              </c:pt>
            </c:strLit>
          </c:cat>
          <c:val>
            <c:numLit>
              <c:formatCode>General</c:formatCode>
              <c:ptCount val="3"/>
              <c:pt idx="0">
                <c:v>9.658</c:v>
              </c:pt>
              <c:pt idx="1">
                <c:v>59.96</c:v>
              </c:pt>
              <c:pt idx="2">
                <c:v>25.11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368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Series 1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1.6</c:v>
              </c:pt>
              <c:pt idx="1">
                <c:v>2.2</c:v>
              </c:pt>
              <c:pt idx="2">
                <c:v>3.5</c:v>
              </c:pt>
              <c:pt idx="3">
                <c:v>5.8</c:v>
              </c:pt>
            </c:numLit>
          </c:val>
        </c:ser>
        <c:ser>
          <c:idx val="1"/>
          <c:order val="1"/>
          <c:tx>
            <c:v>Series 2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1.7</c:v>
              </c:pt>
              <c:pt idx="1">
                <c:v>2.4</c:v>
              </c:pt>
              <c:pt idx="2">
                <c:v>5</c:v>
              </c:pt>
              <c:pt idx="3">
                <c:v>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XUV MAPE, %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5"/>
              <c:pt idx="0">
                <c:v>Paper A</c:v>
              </c:pt>
              <c:pt idx="1">
                <c:v>TCN</c:v>
              </c:pt>
              <c:pt idx="2">
                <c:v>Inception</c:v>
              </c:pt>
              <c:pt idx="3">
                <c:v>Main B</c:v>
              </c:pt>
              <c:pt idx="4">
                <c:v>Conditioning*</c:v>
              </c:pt>
            </c:strLit>
          </c:cat>
          <c:val>
            <c:numLit>
              <c:formatCode>General</c:formatCode>
              <c:ptCount val="5"/>
              <c:pt idx="0">
                <c:v>15.1</c:v>
              </c:pt>
              <c:pt idx="1">
                <c:v>16.9</c:v>
              </c:pt>
              <c:pt idx="2">
                <c:v>10.9</c:v>
              </c:pt>
              <c:pt idx="3">
                <c:v>10.8</c:v>
              </c:pt>
              <c:pt idx="4">
                <c:v>9.0165</c:v>
              </c:pt>
            </c:numLit>
          </c:val>
        </c:ser>
        <c:ser>
          <c:idx val="1"/>
          <c:order val="1"/>
          <c:tx>
            <c:v>Helium MAPE, %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Paper A</c:v>
              </c:pt>
              <c:pt idx="1">
                <c:v>TCN</c:v>
              </c:pt>
              <c:pt idx="2">
                <c:v>Inception</c:v>
              </c:pt>
              <c:pt idx="3">
                <c:v>Main B</c:v>
              </c:pt>
              <c:pt idx="4">
                <c:v>Conditioning*</c:v>
              </c:pt>
            </c:strLit>
          </c:cat>
          <c:val>
            <c:numLit>
              <c:formatCode>General</c:formatCode>
              <c:ptCount val="5"/>
              <c:pt idx="0">
                <c:v>12.4</c:v>
              </c:pt>
              <c:pt idx="1">
                <c:v>11.3</c:v>
              </c:pt>
              <c:pt idx="2">
                <c:v>8.8</c:v>
              </c:pt>
              <c:pt idx="3">
                <c:v>9.7</c:v>
              </c:pt>
              <c:pt idx="4">
                <c:v>8.6242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368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5F22030D-4864-4258-AE70-BBC2BD2D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Решение в pro:
аудит качества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035009B-1F2C-41C5-B43A-C56E3723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Архитектура, обучение, эксперименты,
утечки данных и воспроизводимость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98B5281-111C-42D7-B23C-8CC9703B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ТЕХНИЧЕСКИЙ АУДИТ · JUL 2026</a:t>
            </a:r>
          </a:p>
        </p:txBody>
      </p:sp>
      <p:sp>
        <p:nvSpPr>
          <p:cNvPr id="4" name="cover-accent-field">
            <a:extLst xmlns:a="http://schemas.openxmlformats.org/drawingml/2006/main">
              <a:ext uri="{FF2B5EF4-FFF2-40B4-BE49-F238E27FC236}">
                <a16:creationId xmlns:a16="http://schemas.microsoft.com/office/drawing/2014/main" id="{4E7EC41D-D578-4BD9-94CB-B327E431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0"/>
            <a:ext cx="1666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accent-rule">
            <a:extLst xmlns:a="http://schemas.openxmlformats.org/drawingml/2006/main">
              <a:ext uri="{FF2B5EF4-FFF2-40B4-BE49-F238E27FC236}">
                <a16:creationId xmlns:a16="http://schemas.microsoft.com/office/drawing/2014/main" id="{AA99B2D2-106E-4D9B-8E12-FCA60EC4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33073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DF5467F9-F637-4EB0-B438-51466911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3FDE74E3-4E01-4BD8-AA8F-7D193F6F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61B8F3A-2F15-43D8-8BE8-9A410E02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2752AF80-CE48-48D7-ADF7-CFC3DBC0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F0DFE491-5642-413C-8E0B-C59293C6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Вердикт: leakage исправлена, оценка всё ещё development-grade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30290A9-3849-4ADB-AF7E-C0DBBCC8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checkpoint
инференс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1458E43-91E4-40A5-8284-0392D32A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70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conditioned-веток
полностью retrained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1E27F195-86D4-4614-8597-70FDCC47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независимых
test-наборов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308D384B-3AC7-499E-85E2-B442494C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1:1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4F63ACD-C558-4297-A83B-0C139C1B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88FB59D7-8F13-41FE-84B6-19B1E0E0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/ 3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A3E3D85C-E56D-4F04-9C9F-9CF558AB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Главное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Transductive leakage устранена, aux_conditioning полностью переобучен. Но best-of-5 остаётся oracle coverage на development holdout, а независимого test всё ещё нет.</a:t>
            </a:r>
          </a:p>
        </p:txBody>
      </p:sp>
      <p:sp>
        <p:nvSpPr>
          <p:cNvPr id="1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456EA5E0-3A86-4CE6-BCC5-1DAC08F9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57275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ill-Воспроизводится">
            <a:extLst xmlns:a="http://schemas.openxmlformats.org/drawingml/2006/main">
              <a:ext uri="{FF2B5EF4-FFF2-40B4-BE49-F238E27FC236}">
                <a16:creationId xmlns:a16="http://schemas.microsoft.com/office/drawing/2014/main" id="{D9CB7F87-601D-4B68-8519-CDF4559B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718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818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Воспроизводится</a:t>
            </a:r>
          </a:p>
        </p:txBody>
      </p:sp>
      <p:sp>
        <p:nvSpPr>
          <p:cNvPr id="15" name="pill-Главный риск">
            <a:extLst xmlns:a="http://schemas.openxmlformats.org/drawingml/2006/main">
              <a:ext uri="{FF2B5EF4-FFF2-40B4-BE49-F238E27FC236}">
                <a16:creationId xmlns:a16="http://schemas.microsoft.com/office/drawing/2014/main" id="{1C215C1B-D57E-48CD-AEAE-730010E2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71825"/>
            <a:ext cx="1285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818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Главный риск</a:t>
            </a:r>
          </a:p>
        </p:txBody>
      </p:sp>
      <p:sp>
        <p:nvSpPr>
          <p:cNvPr id="16" name="pill-Подтверждено">
            <a:extLst xmlns:a="http://schemas.openxmlformats.org/drawingml/2006/main">
              <a:ext uri="{FF2B5EF4-FFF2-40B4-BE49-F238E27FC236}">
                <a16:creationId xmlns:a16="http://schemas.microsoft.com/office/drawing/2014/main" id="{F296EA5B-65AD-4B2C-9822-62D197EF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71825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818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Post-fix</a:t>
            </a:r>
          </a:p>
        </p:txBody>
      </p:sp>
    </p:spTree>
    <p:extLst>
      <p:ext uri="{BB962C8B-B14F-4D97-AF65-F5344CB8AC3E}">
        <p14:creationId xmlns:p14="http://schemas.microsoft.com/office/powerpoint/2010/main" val="5825966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FBE2905-4E95-42BC-8CDC-C203F747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89AD93D-5D0D-414D-9345-04B0E2DB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Один holdout выполняет слишком много ролей</a:t>
            </a:r>
          </a:p>
        </p:txBody>
      </p:sp>
      <p:cxnSp>
        <p:nvCxnSpPr>
          <p:cNvPr id="23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43D995D-E83E-4D4A-9E08-1CD8EEDA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24D3C2A-5461-47D6-AA0A-6867AE9C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93AB75-BBF5-41A8-B633-E0E188DF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25783F3-BBB8-4A38-BDF0-6BBEE975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· СПЛИТ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1C4C681-6EDF-4F37-952B-819A9C93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· ОТБОР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8AF5963-078E-451F-A039-4DCB5FBF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· ОТЧЁТ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5AD310E-6D92-4D5B-A783-E9DC2440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400 эпох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best checkpoint по holdout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AB5C6FE-BC30-4C8D-8356-325172D5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490 / 123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random row split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09F58E-388A-429B-B1DD-AB5486A0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те же 123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архитектуры, M/k, финальные метрики</a:t>
            </a:r>
          </a:p>
        </p:txBody>
      </p:sp>
      <p:sp>
        <p:nvSpPr>
          <p:cNvPr id="13" name="split-callout">
            <a:extLst xmlns:a="http://schemas.openxmlformats.org/drawingml/2006/main">
              <a:ext uri="{FF2B5EF4-FFF2-40B4-BE49-F238E27FC236}">
                <a16:creationId xmlns:a16="http://schemas.microsoft.com/office/drawing/2014/main" id="{2A01FD5B-5893-4D0A-868F-EA869169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11410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plit-evidence">
            <a:extLst xmlns:a="http://schemas.openxmlformats.org/drawingml/2006/main">
              <a:ext uri="{FF2B5EF4-FFF2-40B4-BE49-F238E27FC236}">
                <a16:creationId xmlns:a16="http://schemas.microsoft.com/office/drawing/2014/main" id="{2BF4800F-BCDC-42D0-B056-BB71AA01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90675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На границе split: 4 повторяющихся target-вектора и 1 byte-identical профиль с другим Helium. Это structural contamination, не прямая label leakage.</a:t>
            </a:r>
          </a:p>
        </p:txBody>
      </p:sp>
    </p:spTree>
    <p:extLst>
      <p:ext uri="{BB962C8B-B14F-4D97-AF65-F5344CB8AC3E}">
        <p14:creationId xmlns:p14="http://schemas.microsoft.com/office/powerpoint/2010/main" val="19368019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349FEBA-B77B-4326-BF64-92BB4907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30FCAEB-D1E6-4A41-8681-9F443D47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Архитектура: 25 совместных кандидатов из ансамбля WTA-CNN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A87B1542-C476-4A54-A8FD-F09AE7D2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FDDB8B4C-B0EC-4475-866E-2D0A3CFA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6" name="architecture-image-cover">
            <a:extLst xmlns:a="http://schemas.openxmlformats.org/drawingml/2006/main">
              <a:ext uri="{FF2B5EF4-FFF2-40B4-BE49-F238E27FC236}">
                <a16:creationId xmlns:a16="http://schemas.microsoft.com/office/drawing/2014/main" id="{5ECDCD4A-F070-48F6-8C54-49ACD938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3850"/>
            <a:ext cx="5715000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itecture-title-cover">
            <a:extLst xmlns:a="http://schemas.openxmlformats.org/drawingml/2006/main">
              <a:ext uri="{FF2B5EF4-FFF2-40B4-BE49-F238E27FC236}">
                <a16:creationId xmlns:a16="http://schemas.microsoft.com/office/drawing/2014/main" id="{2D8D9D06-817F-4157-AD1C-1C894066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itecture-title-restored">
            <a:extLst xmlns:a="http://schemas.openxmlformats.org/drawingml/2006/main">
              <a:ext uri="{FF2B5EF4-FFF2-40B4-BE49-F238E27FC236}">
                <a16:creationId xmlns:a16="http://schemas.microsoft.com/office/drawing/2014/main" id="{0F26F622-1C32-4DC8-AA5A-C73EBE12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 b="0">
                <a:solidFill>
                  <a:srgbClr val="000000"/>
                </a:solidFill>
              </a:defRPr>
            </a:pPr>
            <a:r>
              <a:rPr sz="2900" b="0">
                <a:solidFill>
                  <a:srgbClr val="000000"/>
                </a:solidFill>
              </a:rPr>
              <a:t>Архитектура: 25 совместных кандидатов из ансамбля WTA-CNN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378e93190451f"/>
          <a:stretch xmlns:a="http://schemas.openxmlformats.org/drawingml/2006/main"/>
        </p:blipFill>
        <p:spPr>
          <a:xfrm xmlns:a="http://schemas.openxmlformats.org/drawingml/2006/main">
            <a:off x="6286500" y="1246130"/>
            <a:ext cx="5476875" cy="3765665"/>
          </a:xfrm>
          <a:prstGeom xmlns:a="http://schemas.openxmlformats.org/drawingml/2006/main" prst="rect">
            <a:avLst/>
          </a:prstGeom>
        </p:spPr>
      </p:pic>
      <p:sp>
        <p:nvSpPr>
          <p:cNvPr id="10" name="architecture-stat-strip">
            <a:extLst xmlns:a="http://schemas.openxmlformats.org/drawingml/2006/main">
              <a:ext uri="{FF2B5EF4-FFF2-40B4-BE49-F238E27FC236}">
                <a16:creationId xmlns:a16="http://schemas.microsoft.com/office/drawing/2014/main" id="{818D54E4-036E-4B37-AD1A-C4D8CD0C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5476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architecture-params">
            <a:extLst xmlns:a="http://schemas.openxmlformats.org/drawingml/2006/main">
              <a:ext uri="{FF2B5EF4-FFF2-40B4-BE49-F238E27FC236}">
                <a16:creationId xmlns:a16="http://schemas.microsoft.com/office/drawing/2014/main" id="{4FA6914F-1207-42F5-8890-F8E7B208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292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8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2.29M параметров / seed  ·  11.53M с ансамблем и ranker</a:t>
            </a:r>
          </a:p>
        </p:txBody>
      </p:sp>
      <p:sp>
        <p:nvSpPr>
          <p:cNvPr id="12" name="architecture-accent">
            <a:extLst xmlns:a="http://schemas.openxmlformats.org/drawingml/2006/main">
              <a:ext uri="{FF2B5EF4-FFF2-40B4-BE49-F238E27FC236}">
                <a16:creationId xmlns:a16="http://schemas.microsoft.com/office/drawing/2014/main" id="{4CBAEFF2-48DB-4959-A411-94136106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52575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chitecture-copy">
            <a:extLst xmlns:a="http://schemas.openxmlformats.org/drawingml/2006/main">
              <a:ext uri="{FF2B5EF4-FFF2-40B4-BE49-F238E27FC236}">
                <a16:creationId xmlns:a16="http://schemas.microsoft.com/office/drawing/2014/main" id="{475A506C-4EF0-4AD7-81F6-8593F7E2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54292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ВХОД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2 × 101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BACKBONE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Conv1d: 2→64→128→128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kernel 5 · BN · ReLU · MaxPool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flatten = 1536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HEADS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5 × (1536→256→3)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H2a: 1536→128→1</a:t>
            </a:r>
          </a:p>
        </p:txBody>
      </p:sp>
    </p:spTree>
    <p:extLst>
      <p:ext uri="{BB962C8B-B14F-4D97-AF65-F5344CB8AC3E}">
        <p14:creationId xmlns:p14="http://schemas.microsoft.com/office/powerpoint/2010/main" val="5313115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ACBDEE3D-8187-4388-85D5-BB55301F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88BB3031-C551-4354-B1A7-3D9222E3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44F2A37D-C1BA-4AD9-AD60-9DE71D6F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41F61C9E-15B7-409A-AB6D-D0129D6B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06A20ED-3A8A-42B8-8F95-FC96296D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Обучение: 400 эпох, checkpoint по validation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D432A79-23A6-4480-B05B-B13FE19F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seeds ×
regression heads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0BA2D1E-DFBB-48CB-9280-6377103A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batch size
per seed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017DFF3-29AD-48D5-B647-E198EC41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epochs;
best val checkpoint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7E4E6B1A-60A2-46FE-8201-C3DEA66E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 × 5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3691B552-C6F8-40E1-B96E-EF5DE6D4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400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892F71FE-4464-446B-BE3D-76B7F256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64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4B5FC71-2533-4F84-9F10-D7D1FE16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Loss и оптимизация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WTA: min-head MSE + 0.1 × mean-head MSE + BCE(H2a). Adam 1e−3, cosine T_max=400, Gaussian noise σ=0.005 × peak только на train.</a:t>
            </a:r>
          </a:p>
        </p:txBody>
      </p:sp>
      <p:sp>
        <p:nvSpPr>
          <p:cNvPr id="1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40F813C8-97B5-43DE-B363-CD709525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57275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ill-best epochs: 90 · 177 · 271 · 218 · 298">
            <a:extLst xmlns:a="http://schemas.openxmlformats.org/drawingml/2006/main">
              <a:ext uri="{FF2B5EF4-FFF2-40B4-BE49-F238E27FC236}">
                <a16:creationId xmlns:a16="http://schemas.microsoft.com/office/drawing/2014/main" id="{66FD1B53-4430-4698-8009-809E52C2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90800"/>
            <a:ext cx="34290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8705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best epochs: 90 · 177 · 271 · 218 · 298</a:t>
            </a:r>
          </a:p>
        </p:txBody>
      </p:sp>
    </p:spTree>
    <p:extLst>
      <p:ext uri="{BB962C8B-B14F-4D97-AF65-F5344CB8AC3E}">
        <p14:creationId xmlns:p14="http://schemas.microsoft.com/office/powerpoint/2010/main" val="20571494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6BE1BF0-18D1-4286-A7C8-D1278F6F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6A69EDB-BB1F-4E4F-ADF8-8677BE3C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Checkpoint совпал; single-answer selector заметно хуже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13B41A2-670A-42C4-9176-A10A10DE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0.63%</a:t>
            </a:r>
          </a:p>
        </p:txBody>
      </p:sp>
      <p:sp>
        <p:nvSpPr>
          <p:cNvPr id="4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7E8A97A0-EB69-4A5B-ADBF-1F0FC8FB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logMsw oracle
≈ 0.080 dex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A511394-3FB7-40B5-BB4B-BC27B9CD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1.46%</a:t>
            </a:r>
          </a:p>
        </p:txBody>
      </p:sp>
      <p:sp>
        <p:nvSpPr>
          <p:cNvPr id="6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EF5A7BF2-1C3C-493C-B013-834903AE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logMsw ranker
single candidate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4B1CB5CA-5193-4899-A011-6984B001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668">
            <a:solidFill>
              <a:srgbClr val="000000"/>
            </a:solidFill>
            <a:prstDash val="solid"/>
          </a:ln>
        </p:spPr>
      </p:sp>
      <p:sp>
        <p:nvSpPr>
          <p:cNvPr id="8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C1C535FC-275A-42A9-9C95-23D10DFC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Повторный инференс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Совпадение с сохранёнными цифрами до округления. H2a: ROC-AUC 0.9947, accuracy 0.9675.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7213dc28e44955"/>
          </a:graphicData>
        </a:graphic>
      </p:graphicFrame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89dfbf8e3643c4"/>
          </a:graphicData>
        </a:graphic>
      </p:graphicFrame>
    </p:spTree>
    <p:extLst>
      <p:ext uri="{BB962C8B-B14F-4D97-AF65-F5344CB8AC3E}">
        <p14:creationId xmlns:p14="http://schemas.microsoft.com/office/powerpoint/2010/main" val="15376715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268577A-E96D-48AA-A6D7-B668419A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9FE4B4B-40C7-4341-9900-F79766FB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Best-of-5 измеряет покрытие oracle, а не один физический ответ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2EBA96D9-57D0-4F68-B5BC-13CD84F3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FF41878-77FF-4EA1-AF28-D6DED30C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10.8 / 9.7 / 0.63%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147EBFF0-451C-40C2-BCEA-20FB463C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Headline oracle best-of-5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независимых выбора по истине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непредъявляемый единый ответ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EF3D4CEC-12DA-4D38-904B-CF48DC85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4AB5C28-10F9-4076-9F1A-312C8467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31.9 / 25.1 / 1.56%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13190325-5609-47FE-9AEA-07B4ACCB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Mean of 25 — один ответ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реализуемо без знания истины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score ≈ 20.28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6CB0A81-7DB8-4A25-9D68-37EBDE97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Почему это важно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Лучший кандидат выбирается с доступом к истине отдельно для XUV, Helium и logMsw.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Одна и та же строка оказывается лучшей сразу по трём координатам только для 22.8% объектов.</a:t>
            </a:r>
          </a:p>
        </p:txBody>
      </p:sp>
      <p:sp>
        <p:nvSpPr>
          <p:cNvPr id="10" name="pill-ORACLE">
            <a:extLst xmlns:a="http://schemas.openxmlformats.org/drawingml/2006/main">
              <a:ext uri="{FF2B5EF4-FFF2-40B4-BE49-F238E27FC236}">
                <a16:creationId xmlns:a16="http://schemas.microsoft.com/office/drawing/2014/main" id="{459FFC2B-4854-4660-B439-BA739FC9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1000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714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ORACLE</a:t>
            </a:r>
          </a:p>
        </p:txBody>
      </p:sp>
      <p:sp>
        <p:nvSpPr>
          <p:cNvPr id="11" name="pill-DEPLOYABLE">
            <a:extLst xmlns:a="http://schemas.openxmlformats.org/drawingml/2006/main">
              <a:ext uri="{FF2B5EF4-FFF2-40B4-BE49-F238E27FC236}">
                <a16:creationId xmlns:a16="http://schemas.microsoft.com/office/drawing/2014/main" id="{5D6432BB-8627-43F4-A024-8B1A2945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19425"/>
            <a:ext cx="1190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714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DEPLOYABLE</a:t>
            </a:r>
          </a:p>
        </p:txBody>
      </p:sp>
    </p:spTree>
    <p:extLst>
      <p:ext uri="{BB962C8B-B14F-4D97-AF65-F5344CB8AC3E}">
        <p14:creationId xmlns:p14="http://schemas.microsoft.com/office/powerpoint/2010/main" val="18545865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528317D-98A4-477F-9F46-AB6E6D69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61E036D-A5F5-48B2-B284-377141CA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Утечка была в старых outputs — source уже исправлен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EBC37A6A-8D5E-41A7-9825-26470F5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Clean runner: planet-classifier fit только на known ∩ train.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F132D21-678F-4343-A137-290E8D93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22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aux_conditioning · clean retrain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0633B5C8-837D-413E-97D6-5210774B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6C9DF5F7-75E5-4577-8037-C54AC591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Историческая утечка</a:t>
            </a:r>
          </a:p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Старые outputs использовали 466 train + 116 validation. Теперь fit: 466 train + 0 validation; clean aux_conditioning полностью переобучен.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F0E1BF0-EC1B-4C54-97DB-7716135F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xuv_max · source patched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CA726F15-6812-4CED-81D8-8B22BE7F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32EE85CB-14E1-443F-A391-CFB6F52C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650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aux_pretrain · source patched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6F4F7F11-4B74-4BE4-96D4-323F5B33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B8E02F3D-10BB-491C-B7D1-901B4C15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6514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 / 31 меток отличались от old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E2663E08-9220-415A-A0C6-8B263B5E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E657EA01-BFE5-4325-9EC2-3CF4ADFF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6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 / 24 train unknown отличались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282E9A8A-86A7-43AE-A612-4E76430E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B91E12CC-8AA5-46F5-B621-0B6D6D82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90650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8686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02AC73F-943C-4A06-BB2F-BF0BAD9C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7611890-3281-48A8-950B-D9D07119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Clean run: oracle и top-1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40C847C0-769F-429A-BA5E-C646D62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A3B9D5E-D2C3-4971-97E6-76111FB6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Oracle best-of-5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9.02 / 8.62 / 0.659%; H2a AUC 0.9968.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823DC6D4-3E46-4318-A3D6-9DA7822F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D26AB49-34A2-46F3-8244-FEFD7468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88658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Leakage guard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466 train / 0 validation; 5 seeds × 400 epochs.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AFB7B304-3583-4E1F-BADD-AA91D8EA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A18588F2-FD57-4C6A-8A33-4E7F87E2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7648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Ranker top-1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22.14 / 51.77 / 1.472% — selector bottleneck.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08718" y="1054132"/>
          <a:ext xmlns:a="http://schemas.openxmlformats.org/drawingml/2006/main" cx="5124164" cy="54520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5a971c94924007"/>
          </a:graphicData>
        </a:graphic>
      </p:graphicFrame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08718" y="1054132"/>
          <a:ext xmlns:a="http://schemas.openxmlformats.org/drawingml/2006/main" cx="5124164" cy="54520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31c04ee5d7417e"/>
          </a:graphicData>
        </a:graphic>
      </p:graphicFrame>
    </p:spTree>
    <p:extLst>
      <p:ext uri="{BB962C8B-B14F-4D97-AF65-F5344CB8AC3E}">
        <p14:creationId xmlns:p14="http://schemas.microsoft.com/office/powerpoint/2010/main" val="2241842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5C16F33F-0C69-4DAA-8D6D-3800F51B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4349B9CC-29C2-4224-8B0C-D4D5C0AD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F04EC4EF-F2D5-49E5-8D92-90C26E91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1B3678A-963C-4728-A12F-ECD21033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53D2AE5D-DEBF-4E18-9972-B2105A36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Clean conditioned run воспроизводим от данных до метрик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7685832-1334-48F1-B28A-8C76244B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CNN checkpoints
+ raw predictions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4BFC99B-1053-4EFC-8140-9CAF01CC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metric delta
independent recalc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5FBEEE15-0AE2-49F9-AB1D-5ACF6BEC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validation rows
in planet fit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E263A7A2-BDB8-45D6-A091-7B061A13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C22D42F9-B4E2-45E9-AAAD-DF97E1EF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D7612A33-E311-4992-9ECB-4CE849AE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&lt;10⁻¹⁰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E8468BA-CC5D-4370-BAB5-4DF4E192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Что проверено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Пять checkpoints переобучены за 1886.5 с. Raw predictions пересчитаны независимо; split-ID, preprocessing, environment и SHA-256 данных и артефактов сохранены.</a:t>
            </a:r>
          </a:p>
        </p:txBody>
      </p:sp>
      <p:sp>
        <p:nvSpPr>
          <p:cNvPr id="1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F034D31-6FC7-4F21-95DD-7E9F7E44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57275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ill-данные требуют ручной распаковки">
            <a:extLst xmlns:a="http://schemas.openxmlformats.org/drawingml/2006/main">
              <a:ext uri="{FF2B5EF4-FFF2-40B4-BE49-F238E27FC236}">
                <a16:creationId xmlns:a16="http://schemas.microsoft.com/office/drawing/2014/main" id="{DBA6121A-3831-4AE6-82BD-B732B5A5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193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818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split IDs · 490 / 123</a:t>
            </a:r>
          </a:p>
        </p:txBody>
      </p:sp>
      <p:sp>
        <p:nvSpPr>
          <p:cNvPr id="15" name="pill-пути в infer.py не совпадают с архивом">
            <a:extLst xmlns:a="http://schemas.openxmlformats.org/drawingml/2006/main">
              <a:ext uri="{FF2B5EF4-FFF2-40B4-BE49-F238E27FC236}">
                <a16:creationId xmlns:a16="http://schemas.microsoft.com/office/drawing/2014/main" id="{6626798A-DFC6-4DD3-B895-EDEF9272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3162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818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SHA-256 data + artifacts</a:t>
            </a:r>
          </a:p>
        </p:txBody>
      </p:sp>
      <p:sp>
        <p:nvSpPr>
          <p:cNvPr id="16" name="pill-xuv cache без генератора">
            <a:extLst xmlns:a="http://schemas.openxmlformats.org/drawingml/2006/main">
              <a:ext uri="{FF2B5EF4-FFF2-40B4-BE49-F238E27FC236}">
                <a16:creationId xmlns:a16="http://schemas.microsoft.com/office/drawing/2014/main" id="{266CB7DC-AD97-46D9-8D04-BF4F9E42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86050"/>
            <a:ext cx="2247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818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environment.json</a:t>
            </a:r>
          </a:p>
        </p:txBody>
      </p:sp>
    </p:spTree>
    <p:extLst>
      <p:ext uri="{BB962C8B-B14F-4D97-AF65-F5344CB8AC3E}">
        <p14:creationId xmlns:p14="http://schemas.microsoft.com/office/powerpoint/2010/main" val="20075540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F3A0E4C-27F3-4673-B8A2-19DBDC4B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BF3B404-86E2-4C39-B08A-BE6F20A4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Что исправлено и что ещё блокирует финальный claim</a:t>
            </a:r>
          </a:p>
        </p:txBody>
      </p:sp>
      <p:cxnSp>
        <p:nvCxnSpPr>
          <p:cNvPr id="23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C533FF0-4CB8-42B8-9ED4-89C2B7EF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F1B6FA2D-31F2-4D29-9CBF-2A18D858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7462DDE-86CB-4719-BC54-7C7D66FD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154C9BB-348C-440C-923B-42B1B59D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ГОТОВО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AA038AF-3355-4975-A400-0A4FB456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СЛЕДУЮЩИЙ RUN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7DFBC55-DF6D-4F6C-8011-45CBCBC9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ПЕРЕД CLAIM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8374F82B-88F7-4881-B4D5-21A0D345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Пересобрать split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group-held-out · duplicate control · frozen test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58745A4-C3D9-416C-8BE8-2E49EAD0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Leakage устранена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notebooks · clean runner · full retrain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4BE5092B-3D09-49CD-8199-3EEE3F71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Переобучить selector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OOF candidates · single-answer · bootstrap CI</a:t>
            </a:r>
          </a:p>
        </p:txBody>
      </p:sp>
      <p:sp>
        <p:nvSpPr>
          <p:cNvPr id="13" name="action-priority">
            <a:extLst xmlns:a="http://schemas.openxmlformats.org/drawingml/2006/main">
              <a:ext uri="{FF2B5EF4-FFF2-40B4-BE49-F238E27FC236}">
                <a16:creationId xmlns:a16="http://schemas.microsoft.com/office/drawing/2014/main" id="{52EDF621-283C-4D02-BF32-7E1F54A9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11410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0-priority">
            <a:extLst xmlns:a="http://schemas.openxmlformats.org/drawingml/2006/main">
              <a:ext uri="{FF2B5EF4-FFF2-40B4-BE49-F238E27FC236}">
                <a16:creationId xmlns:a16="http://schemas.microsoft.com/office/drawing/2014/main" id="{F0F97799-4D9E-4307-BB77-D44386C9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5735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6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P0 · Новый test не должен участвовать ни в checkpoint selection, ни в выборе архитектуры, k/M, ranker или псевдометок.</a:t>
            </a:r>
          </a:p>
        </p:txBody>
      </p:sp>
    </p:spTree>
    <p:extLst>
      <p:ext uri="{BB962C8B-B14F-4D97-AF65-F5344CB8AC3E}">
        <p14:creationId xmlns:p14="http://schemas.microsoft.com/office/powerpoint/2010/main" val="13896648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-1">
            <a:extLst xmlns:a="http://schemas.openxmlformats.org/drawingml/2006/main">
              <a:ext uri="{FF2B5EF4-FFF2-40B4-BE49-F238E27FC236}">
                <a16:creationId xmlns:a16="http://schemas.microsoft.com/office/drawing/2014/main" id="{ACC1F921-A527-4CA4-ADB7-D23978EC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Показывать можно.
Публиковать рано.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7662ED6-B692-4F04-9BD6-46F98788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3BD2F8E-2E36-425C-98AC-B9506315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РЕШЕНИЕ</a:t>
            </a:r>
          </a:p>
        </p:txBody>
      </p:sp>
      <p:sp>
        <p:nvSpPr>
          <p:cNvPr id="4" name="decision-accent-field">
            <a:extLst xmlns:a="http://schemas.openxmlformats.org/drawingml/2006/main">
              <a:ext uri="{FF2B5EF4-FFF2-40B4-BE49-F238E27FC236}">
                <a16:creationId xmlns:a16="http://schemas.microsoft.com/office/drawing/2014/main" id="{209E0998-3D1E-48D5-8891-58576A07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0"/>
            <a:ext cx="1666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accent-rule">
            <a:extLst xmlns:a="http://schemas.openxmlformats.org/drawingml/2006/main">
              <a:ext uri="{FF2B5EF4-FFF2-40B4-BE49-F238E27FC236}">
                <a16:creationId xmlns:a16="http://schemas.microsoft.com/office/drawing/2014/main" id="{8AB1C459-B947-4BDC-931B-546F48E0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details-cover">
            <a:extLst xmlns:a="http://schemas.openxmlformats.org/drawingml/2006/main">
              <a:ext uri="{FF2B5EF4-FFF2-40B4-BE49-F238E27FC236}">
                <a16:creationId xmlns:a16="http://schemas.microsoft.com/office/drawing/2014/main" id="{ECA914E3-6A2A-481A-9D78-24B891A8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10125"/>
            <a:ext cx="96202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ision-details-restored">
            <a:extLst xmlns:a="http://schemas.openxmlformats.org/drawingml/2006/main">
              <a:ext uri="{FF2B5EF4-FFF2-40B4-BE49-F238E27FC236}">
                <a16:creationId xmlns:a16="http://schemas.microsoft.com/office/drawing/2014/main" id="{89EB0156-4EA7-4EF3-8E3C-7E4D589E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10150"/>
            <a:ext cx="8858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✓ transductive leakage — устранена в source и clean run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△ best-of-5 — только как oracle coverage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✕ независимый test — ещё не выполнен</a:t>
            </a:r>
          </a:p>
        </p:txBody>
      </p:sp>
    </p:spTree>
    <p:extLst>
      <p:ext uri="{BB962C8B-B14F-4D97-AF65-F5344CB8AC3E}">
        <p14:creationId xmlns:p14="http://schemas.microsoft.com/office/powerpoint/2010/main" val="4354254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8921AA2-2137-4E90-BDD3-43462E3F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EC9FA58-8B0A-4556-B2EF-C789B69C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Приложение A · clean conditioned архитектура и обучение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AFEB29F9-18A9-404D-A6E7-62F082A4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Clean train-only run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2.403M параметров на CNN; пять seeds × 400 эпох и ranker 3000 steps полностью переобучены.</a:t>
            </a:r>
          </a:p>
        </p:txBody>
      </p:sp>
      <p:graphicFrame>
        <p:nvGraphicFramePr>
          <p:cNvPr id="47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appendix-table-cover">
            <a:extLst xmlns:a="http://schemas.openxmlformats.org/drawingml/2006/main">
              <a:ext uri="{FF2B5EF4-FFF2-40B4-BE49-F238E27FC236}">
                <a16:creationId xmlns:a16="http://schemas.microsoft.com/office/drawing/2014/main" id="{BE1D64BF-3A9F-4057-90CD-A5DBF8CB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14550"/>
            <a:ext cx="115062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able-r0-c0">
            <a:extLst xmlns:a="http://schemas.openxmlformats.org/drawingml/2006/main">
              <a:ext uri="{FF2B5EF4-FFF2-40B4-BE49-F238E27FC236}">
                <a16:creationId xmlns:a16="http://schemas.microsoft.com/office/drawing/2014/main" id="{19BDB251-F0C5-4C96-99E5-AB6A2C2C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71700"/>
            <a:ext cx="161925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Блок</a:t>
            </a:r>
          </a:p>
        </p:txBody>
      </p:sp>
      <p:sp>
        <p:nvSpPr>
          <p:cNvPr id="7" name="table-r0-c1">
            <a:extLst xmlns:a="http://schemas.openxmlformats.org/drawingml/2006/main">
              <a:ext uri="{FF2B5EF4-FFF2-40B4-BE49-F238E27FC236}">
                <a16:creationId xmlns:a16="http://schemas.microsoft.com/office/drawing/2014/main" id="{A6A2EAD6-0EB6-446A-9AF2-25A45CBE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171700"/>
            <a:ext cx="242887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Параметр</a:t>
            </a:r>
          </a:p>
        </p:txBody>
      </p:sp>
      <p:sp>
        <p:nvSpPr>
          <p:cNvPr id="8" name="table-r0-c2">
            <a:extLst xmlns:a="http://schemas.openxmlformats.org/drawingml/2006/main">
              <a:ext uri="{FF2B5EF4-FFF2-40B4-BE49-F238E27FC236}">
                <a16:creationId xmlns:a16="http://schemas.microsoft.com/office/drawing/2014/main" id="{3835018D-F526-49E7-A662-6D4D16DD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71700"/>
            <a:ext cx="342900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Значение</a:t>
            </a:r>
          </a:p>
        </p:txBody>
      </p:sp>
      <p:sp>
        <p:nvSpPr>
          <p:cNvPr id="9" name="table-r0-c3">
            <a:extLst xmlns:a="http://schemas.openxmlformats.org/drawingml/2006/main">
              <a:ext uri="{FF2B5EF4-FFF2-40B4-BE49-F238E27FC236}">
                <a16:creationId xmlns:a16="http://schemas.microsoft.com/office/drawing/2014/main" id="{54AF5715-10FE-4483-817E-DC076040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71700"/>
            <a:ext cx="393382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Комментарий</a:t>
            </a:r>
          </a:p>
        </p:txBody>
      </p:sp>
      <p:sp>
        <p:nvSpPr>
          <p:cNvPr id="10" name="table-r1-c0">
            <a:extLst xmlns:a="http://schemas.openxmlformats.org/drawingml/2006/main">
              <a:ext uri="{FF2B5EF4-FFF2-40B4-BE49-F238E27FC236}">
                <a16:creationId xmlns:a16="http://schemas.microsoft.com/office/drawing/2014/main" id="{32335DC4-0EB6-483B-8601-3585B5D3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11967"/>
            <a:ext cx="161925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Вход</a:t>
            </a:r>
          </a:p>
        </p:txBody>
      </p:sp>
      <p:sp>
        <p:nvSpPr>
          <p:cNvPr id="11" name="table-r1-c1">
            <a:extLst xmlns:a="http://schemas.openxmlformats.org/drawingml/2006/main">
              <a:ext uri="{FF2B5EF4-FFF2-40B4-BE49-F238E27FC236}">
                <a16:creationId xmlns:a16="http://schemas.microsoft.com/office/drawing/2014/main" id="{0E2CBE80-6F15-4991-8633-008257E2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611967"/>
            <a:ext cx="242887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Каналы × длина</a:t>
            </a:r>
          </a:p>
        </p:txBody>
      </p:sp>
      <p:sp>
        <p:nvSpPr>
          <p:cNvPr id="12" name="table-r1-c2">
            <a:extLst xmlns:a="http://schemas.openxmlformats.org/drawingml/2006/main">
              <a:ext uri="{FF2B5EF4-FFF2-40B4-BE49-F238E27FC236}">
                <a16:creationId xmlns:a16="http://schemas.microsoft.com/office/drawing/2014/main" id="{61441C21-A752-40A4-97B7-4D092AD8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11967"/>
            <a:ext cx="342900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2 × 101</a:t>
            </a:r>
          </a:p>
        </p:txBody>
      </p:sp>
      <p:sp>
        <p:nvSpPr>
          <p:cNvPr id="13" name="table-r1-c3">
            <a:extLst xmlns:a="http://schemas.openxmlformats.org/drawingml/2006/main">
              <a:ext uri="{FF2B5EF4-FFF2-40B4-BE49-F238E27FC236}">
                <a16:creationId xmlns:a16="http://schemas.microsoft.com/office/drawing/2014/main" id="{B418E2D2-109E-491E-95E8-2092E956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11967"/>
            <a:ext cx="393382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linear profile / x_scale + standardized log10 clip</a:t>
            </a:r>
          </a:p>
        </p:txBody>
      </p:sp>
      <p:sp>
        <p:nvSpPr>
          <p:cNvPr id="14" name="table-r2-c0">
            <a:extLst xmlns:a="http://schemas.openxmlformats.org/drawingml/2006/main">
              <a:ext uri="{FF2B5EF4-FFF2-40B4-BE49-F238E27FC236}">
                <a16:creationId xmlns:a16="http://schemas.microsoft.com/office/drawing/2014/main" id="{3DDE7C09-BB78-4ECD-978C-0D3054F2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52233"/>
            <a:ext cx="161925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Backbone</a:t>
            </a:r>
          </a:p>
        </p:txBody>
      </p:sp>
      <p:sp>
        <p:nvSpPr>
          <p:cNvPr id="15" name="table-r2-c1">
            <a:extLst xmlns:a="http://schemas.openxmlformats.org/drawingml/2006/main">
              <a:ext uri="{FF2B5EF4-FFF2-40B4-BE49-F238E27FC236}">
                <a16:creationId xmlns:a16="http://schemas.microsoft.com/office/drawing/2014/main" id="{51D85E53-CDCE-47E8-989B-0B332D83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052233"/>
            <a:ext cx="242887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Conv1d</a:t>
            </a:r>
          </a:p>
        </p:txBody>
      </p:sp>
      <p:sp>
        <p:nvSpPr>
          <p:cNvPr id="16" name="table-r2-c2">
            <a:extLst xmlns:a="http://schemas.openxmlformats.org/drawingml/2006/main">
              <a:ext uri="{FF2B5EF4-FFF2-40B4-BE49-F238E27FC236}">
                <a16:creationId xmlns:a16="http://schemas.microsoft.com/office/drawing/2014/main" id="{2A1ED953-72DD-4FFD-8407-27B94DBD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52233"/>
            <a:ext cx="342900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2→64→128→128, k=5</a:t>
            </a:r>
          </a:p>
        </p:txBody>
      </p:sp>
      <p:sp>
        <p:nvSpPr>
          <p:cNvPr id="17" name="table-r2-c3">
            <a:extLst xmlns:a="http://schemas.openxmlformats.org/drawingml/2006/main">
              <a:ext uri="{FF2B5EF4-FFF2-40B4-BE49-F238E27FC236}">
                <a16:creationId xmlns:a16="http://schemas.microsoft.com/office/drawing/2014/main" id="{1A061484-E667-4BF7-988B-D78BB021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52233"/>
            <a:ext cx="393382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каждый блок: BN · ReLU · MaxPool</a:t>
            </a:r>
          </a:p>
        </p:txBody>
      </p:sp>
      <p:sp>
        <p:nvSpPr>
          <p:cNvPr id="18" name="table-r3-c0">
            <a:extLst xmlns:a="http://schemas.openxmlformats.org/drawingml/2006/main">
              <a:ext uri="{FF2B5EF4-FFF2-40B4-BE49-F238E27FC236}">
                <a16:creationId xmlns:a16="http://schemas.microsoft.com/office/drawing/2014/main" id="{DCDFF85A-5680-4F49-B9AC-C31A60B2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92500"/>
            <a:ext cx="161925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Heads</a:t>
            </a:r>
          </a:p>
        </p:txBody>
      </p:sp>
      <p:sp>
        <p:nvSpPr>
          <p:cNvPr id="19" name="table-r3-c1">
            <a:extLst xmlns:a="http://schemas.openxmlformats.org/drawingml/2006/main">
              <a:ext uri="{FF2B5EF4-FFF2-40B4-BE49-F238E27FC236}">
                <a16:creationId xmlns:a16="http://schemas.microsoft.com/office/drawing/2014/main" id="{862569B5-2C6E-4827-997A-D88993D7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492500"/>
            <a:ext cx="242887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Регрессия</a:t>
            </a:r>
          </a:p>
        </p:txBody>
      </p:sp>
      <p:sp>
        <p:nvSpPr>
          <p:cNvPr id="20" name="table-r3-c2">
            <a:extLst xmlns:a="http://schemas.openxmlformats.org/drawingml/2006/main">
              <a:ext uri="{FF2B5EF4-FFF2-40B4-BE49-F238E27FC236}">
                <a16:creationId xmlns:a16="http://schemas.microsoft.com/office/drawing/2014/main" id="{D02BFD2C-BDDE-48E0-8EBC-B68C399C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92500"/>
            <a:ext cx="342900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5 × (1545→256→3)</a:t>
            </a:r>
          </a:p>
        </p:txBody>
      </p:sp>
      <p:sp>
        <p:nvSpPr>
          <p:cNvPr id="21" name="table-r3-c3">
            <a:extLst xmlns:a="http://schemas.openxmlformats.org/drawingml/2006/main">
              <a:ext uri="{FF2B5EF4-FFF2-40B4-BE49-F238E27FC236}">
                <a16:creationId xmlns:a16="http://schemas.microsoft.com/office/drawing/2014/main" id="{4D6E008A-49C4-43EC-9231-5FFE23C5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92500"/>
            <a:ext cx="393382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WTA по совместному вектору XUV/He/logMsw</a:t>
            </a:r>
          </a:p>
        </p:txBody>
      </p:sp>
      <p:sp>
        <p:nvSpPr>
          <p:cNvPr id="22" name="table-r4-c0">
            <a:extLst xmlns:a="http://schemas.openxmlformats.org/drawingml/2006/main">
              <a:ext uri="{FF2B5EF4-FFF2-40B4-BE49-F238E27FC236}">
                <a16:creationId xmlns:a16="http://schemas.microsoft.com/office/drawing/2014/main" id="{F4547F41-0A60-4A0C-ABF4-2A123784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32767"/>
            <a:ext cx="161925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Aux heads</a:t>
            </a:r>
          </a:p>
        </p:txBody>
      </p:sp>
      <p:sp>
        <p:nvSpPr>
          <p:cNvPr id="23" name="table-r4-c1">
            <a:extLst xmlns:a="http://schemas.openxmlformats.org/drawingml/2006/main">
              <a:ext uri="{FF2B5EF4-FFF2-40B4-BE49-F238E27FC236}">
                <a16:creationId xmlns:a16="http://schemas.microsoft.com/office/drawing/2014/main" id="{459B1E0C-BCC0-445A-9A27-661AEE72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932767"/>
            <a:ext cx="242887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H2a / planet</a:t>
            </a:r>
          </a:p>
        </p:txBody>
      </p:sp>
      <p:sp>
        <p:nvSpPr>
          <p:cNvPr id="24" name="table-r4-c2">
            <a:extLst xmlns:a="http://schemas.openxmlformats.org/drawingml/2006/main">
              <a:ext uri="{FF2B5EF4-FFF2-40B4-BE49-F238E27FC236}">
                <a16:creationId xmlns:a16="http://schemas.microsoft.com/office/drawing/2014/main" id="{C653DC7B-ECAB-44D0-9C91-089634C4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32767"/>
            <a:ext cx="342900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1536→128→1 / 1536→64→3</a:t>
            </a:r>
          </a:p>
        </p:txBody>
      </p:sp>
      <p:sp>
        <p:nvSpPr>
          <p:cNvPr id="25" name="table-r4-c3">
            <a:extLst xmlns:a="http://schemas.openxmlformats.org/drawingml/2006/main">
              <a:ext uri="{FF2B5EF4-FFF2-40B4-BE49-F238E27FC236}">
                <a16:creationId xmlns:a16="http://schemas.microsoft.com/office/drawing/2014/main" id="{9AEEF99F-2549-447B-916C-23A11BF3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32767"/>
            <a:ext cx="393382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BCE + 0.3×CE; softmax→9 phys</a:t>
            </a:r>
          </a:p>
        </p:txBody>
      </p:sp>
      <p:sp>
        <p:nvSpPr>
          <p:cNvPr id="26" name="table-r5-c0">
            <a:extLst xmlns:a="http://schemas.openxmlformats.org/drawingml/2006/main">
              <a:ext uri="{FF2B5EF4-FFF2-40B4-BE49-F238E27FC236}">
                <a16:creationId xmlns:a16="http://schemas.microsoft.com/office/drawing/2014/main" id="{10382244-6871-4DBC-8454-B8242725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73033"/>
            <a:ext cx="161925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Training</a:t>
            </a:r>
          </a:p>
        </p:txBody>
      </p:sp>
      <p:sp>
        <p:nvSpPr>
          <p:cNvPr id="27" name="table-r5-c1">
            <a:extLst xmlns:a="http://schemas.openxmlformats.org/drawingml/2006/main">
              <a:ext uri="{FF2B5EF4-FFF2-40B4-BE49-F238E27FC236}">
                <a16:creationId xmlns:a16="http://schemas.microsoft.com/office/drawing/2014/main" id="{429F2CA9-19C2-45D9-82C1-B0B115D2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373033"/>
            <a:ext cx="242887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Seeds / epochs / batch</a:t>
            </a:r>
          </a:p>
        </p:txBody>
      </p:sp>
      <p:sp>
        <p:nvSpPr>
          <p:cNvPr id="28" name="table-r5-c2">
            <a:extLst xmlns:a="http://schemas.openxmlformats.org/drawingml/2006/main">
              <a:ext uri="{FF2B5EF4-FFF2-40B4-BE49-F238E27FC236}">
                <a16:creationId xmlns:a16="http://schemas.microsoft.com/office/drawing/2014/main" id="{CE123855-D93E-4960-B4CF-5E8A66F2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73033"/>
            <a:ext cx="342900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5 / 400 / 64</a:t>
            </a:r>
          </a:p>
        </p:txBody>
      </p:sp>
      <p:sp>
        <p:nvSpPr>
          <p:cNvPr id="29" name="table-r5-c3">
            <a:extLst xmlns:a="http://schemas.openxmlformats.org/drawingml/2006/main">
              <a:ext uri="{FF2B5EF4-FFF2-40B4-BE49-F238E27FC236}">
                <a16:creationId xmlns:a16="http://schemas.microsoft.com/office/drawing/2014/main" id="{1F4A631A-2A38-47D8-AC51-0419E481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73033"/>
            <a:ext cx="393382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best checkpoint по validation loss</a:t>
            </a:r>
          </a:p>
        </p:txBody>
      </p:sp>
      <p:sp>
        <p:nvSpPr>
          <p:cNvPr id="30" name="table-r6-c0">
            <a:extLst xmlns:a="http://schemas.openxmlformats.org/drawingml/2006/main">
              <a:ext uri="{FF2B5EF4-FFF2-40B4-BE49-F238E27FC236}">
                <a16:creationId xmlns:a16="http://schemas.microsoft.com/office/drawing/2014/main" id="{FB151224-ABDB-4460-B86B-205111D7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13300"/>
            <a:ext cx="161925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Optimizer</a:t>
            </a:r>
          </a:p>
        </p:txBody>
      </p:sp>
      <p:sp>
        <p:nvSpPr>
          <p:cNvPr id="31" name="table-r6-c1">
            <a:extLst xmlns:a="http://schemas.openxmlformats.org/drawingml/2006/main">
              <a:ext uri="{FF2B5EF4-FFF2-40B4-BE49-F238E27FC236}">
                <a16:creationId xmlns:a16="http://schemas.microsoft.com/office/drawing/2014/main" id="{F0AA84DE-E844-4B96-AE9B-C1ABDB10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813300"/>
            <a:ext cx="242887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Adam / LR / schedule</a:t>
            </a:r>
          </a:p>
        </p:txBody>
      </p:sp>
      <p:sp>
        <p:nvSpPr>
          <p:cNvPr id="32" name="table-r6-c2">
            <a:extLst xmlns:a="http://schemas.openxmlformats.org/drawingml/2006/main">
              <a:ext uri="{FF2B5EF4-FFF2-40B4-BE49-F238E27FC236}">
                <a16:creationId xmlns:a16="http://schemas.microsoft.com/office/drawing/2014/main" id="{FD509A7B-80B5-4389-8604-DF0BBA15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13300"/>
            <a:ext cx="342900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1e−3 / cosine</a:t>
            </a:r>
          </a:p>
        </p:txBody>
      </p:sp>
      <p:sp>
        <p:nvSpPr>
          <p:cNvPr id="33" name="table-r6-c3">
            <a:extLst xmlns:a="http://schemas.openxmlformats.org/drawingml/2006/main">
              <a:ext uri="{FF2B5EF4-FFF2-40B4-BE49-F238E27FC236}">
                <a16:creationId xmlns:a16="http://schemas.microsoft.com/office/drawing/2014/main" id="{26D3BD17-FD6C-4911-81EA-F6814234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13300"/>
            <a:ext cx="393382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T_max = 400</a:t>
            </a:r>
          </a:p>
        </p:txBody>
      </p:sp>
      <p:sp>
        <p:nvSpPr>
          <p:cNvPr id="34" name="table-r7-c0">
            <a:extLst xmlns:a="http://schemas.openxmlformats.org/drawingml/2006/main">
              <a:ext uri="{FF2B5EF4-FFF2-40B4-BE49-F238E27FC236}">
                <a16:creationId xmlns:a16="http://schemas.microsoft.com/office/drawing/2014/main" id="{D58864A8-727B-4EF6-95E5-DA16018D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53567"/>
            <a:ext cx="161925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Augmentation</a:t>
            </a:r>
          </a:p>
        </p:txBody>
      </p:sp>
      <p:sp>
        <p:nvSpPr>
          <p:cNvPr id="35" name="table-r7-c1">
            <a:extLst xmlns:a="http://schemas.openxmlformats.org/drawingml/2006/main">
              <a:ext uri="{FF2B5EF4-FFF2-40B4-BE49-F238E27FC236}">
                <a16:creationId xmlns:a16="http://schemas.microsoft.com/office/drawing/2014/main" id="{136F9293-C8B8-4878-9315-5B94795B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253567"/>
            <a:ext cx="242887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Gaussian noise</a:t>
            </a:r>
          </a:p>
        </p:txBody>
      </p:sp>
      <p:sp>
        <p:nvSpPr>
          <p:cNvPr id="36" name="table-r7-c2">
            <a:extLst xmlns:a="http://schemas.openxmlformats.org/drawingml/2006/main">
              <a:ext uri="{FF2B5EF4-FFF2-40B4-BE49-F238E27FC236}">
                <a16:creationId xmlns:a16="http://schemas.microsoft.com/office/drawing/2014/main" id="{69FDBCB2-87BF-4621-9753-A2D95EA8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53567"/>
            <a:ext cx="342900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σ = 0.005 × peak</a:t>
            </a:r>
          </a:p>
        </p:txBody>
      </p:sp>
      <p:sp>
        <p:nvSpPr>
          <p:cNvPr id="37" name="table-r7-c3">
            <a:extLst xmlns:a="http://schemas.openxmlformats.org/drawingml/2006/main">
              <a:ext uri="{FF2B5EF4-FFF2-40B4-BE49-F238E27FC236}">
                <a16:creationId xmlns:a16="http://schemas.microsoft.com/office/drawing/2014/main" id="{9308EEED-94AE-4259-99FD-453F6BCE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53567"/>
            <a:ext cx="393382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только на train</a:t>
            </a:r>
          </a:p>
        </p:txBody>
      </p:sp>
      <p:sp>
        <p:nvSpPr>
          <p:cNvPr id="38" name="table-r8-c0">
            <a:extLst xmlns:a="http://schemas.openxmlformats.org/drawingml/2006/main">
              <a:ext uri="{FF2B5EF4-FFF2-40B4-BE49-F238E27FC236}">
                <a16:creationId xmlns:a16="http://schemas.microsoft.com/office/drawing/2014/main" id="{1084EF16-ACAA-40A6-BF16-E543ACA0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93833"/>
            <a:ext cx="161925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Ranker</a:t>
            </a:r>
          </a:p>
        </p:txBody>
      </p:sp>
      <p:sp>
        <p:nvSpPr>
          <p:cNvPr id="39" name="table-r8-c1">
            <a:extLst xmlns:a="http://schemas.openxmlformats.org/drawingml/2006/main">
              <a:ext uri="{FF2B5EF4-FFF2-40B4-BE49-F238E27FC236}">
                <a16:creationId xmlns:a16="http://schemas.microsoft.com/office/drawing/2014/main" id="{197AE4E3-7E38-49CD-850E-0445C1DC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693833"/>
            <a:ext cx="242887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MLP / steps</a:t>
            </a:r>
          </a:p>
        </p:txBody>
      </p:sp>
      <p:sp>
        <p:nvSpPr>
          <p:cNvPr id="40" name="table-r8-c2">
            <a:extLst xmlns:a="http://schemas.openxmlformats.org/drawingml/2006/main">
              <a:ext uri="{FF2B5EF4-FFF2-40B4-BE49-F238E27FC236}">
                <a16:creationId xmlns:a16="http://schemas.microsoft.com/office/drawing/2014/main" id="{35EFA28E-DD61-4D25-BAD4-A5C7CE01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693833"/>
            <a:ext cx="342900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19→256→256→1 / 3000</a:t>
            </a:r>
          </a:p>
        </p:txBody>
      </p:sp>
      <p:sp>
        <p:nvSpPr>
          <p:cNvPr id="41" name="table-r8-c3">
            <a:extLst xmlns:a="http://schemas.openxmlformats.org/drawingml/2006/main">
              <a:ext uri="{FF2B5EF4-FFF2-40B4-BE49-F238E27FC236}">
                <a16:creationId xmlns:a16="http://schemas.microsoft.com/office/drawing/2014/main" id="{04299B1F-CDB9-4CED-A8BD-B859A9B9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93833"/>
            <a:ext cx="393382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dropout 0.2 · 4373 pairs · wd 1e−5</a:t>
            </a:r>
          </a:p>
        </p:txBody>
      </p:sp>
    </p:spTree>
    <p:extLst>
      <p:ext uri="{BB962C8B-B14F-4D97-AF65-F5344CB8AC3E}">
        <p14:creationId xmlns:p14="http://schemas.microsoft.com/office/powerpoint/2010/main" val="13147980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B919476-8939-4536-9C5A-B6738902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F6E0E1E-6B3F-4372-AF69-1ED5E733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Приложение B · матрица экспериментов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C926A737-B7F2-432A-B0F0-1A06F897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Все ошибки — %, если не указано иное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Числа нельзя смешивать без оговорок: часть — archived outputs, часть — clean retrain; headline best-of-k остаётся oracle.</a:t>
            </a:r>
          </a:p>
        </p:txBody>
      </p:sp>
      <p:graphicFrame>
        <p:nvGraphicFramePr>
          <p:cNvPr id="6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experiment-appendix-title-cover">
            <a:extLst xmlns:a="http://schemas.openxmlformats.org/drawingml/2006/main">
              <a:ext uri="{FF2B5EF4-FFF2-40B4-BE49-F238E27FC236}">
                <a16:creationId xmlns:a16="http://schemas.microsoft.com/office/drawing/2014/main" id="{73E47801-F3FC-4598-8F48-648ED200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xperiment-appendix-title-restored">
            <a:extLst xmlns:a="http://schemas.openxmlformats.org/drawingml/2006/main">
              <a:ext uri="{FF2B5EF4-FFF2-40B4-BE49-F238E27FC236}">
                <a16:creationId xmlns:a16="http://schemas.microsoft.com/office/drawing/2014/main" id="{33BF7EB3-0283-4DD1-B202-F4C5C0F9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 b="0">
                <a:solidFill>
                  <a:srgbClr val="000000"/>
                </a:solidFill>
              </a:defRPr>
            </a:pPr>
            <a:r>
              <a:rPr sz="2900" b="0">
                <a:solidFill>
                  <a:srgbClr val="000000"/>
                </a:solidFill>
              </a:rPr>
              <a:t>Приложение B · матрица экспериментов</a:t>
            </a:r>
          </a:p>
        </p:txBody>
      </p:sp>
      <p:sp>
        <p:nvSpPr>
          <p:cNvPr id="7" name="experiment-table-cover">
            <a:extLst xmlns:a="http://schemas.openxmlformats.org/drawingml/2006/main">
              <a:ext uri="{FF2B5EF4-FFF2-40B4-BE49-F238E27FC236}">
                <a16:creationId xmlns:a16="http://schemas.microsoft.com/office/drawing/2014/main" id="{DE2C4182-597F-4C97-8F3C-33E42BCD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14550"/>
            <a:ext cx="115062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able-r0-c0">
            <a:extLst xmlns:a="http://schemas.openxmlformats.org/drawingml/2006/main">
              <a:ext uri="{FF2B5EF4-FFF2-40B4-BE49-F238E27FC236}">
                <a16:creationId xmlns:a16="http://schemas.microsoft.com/office/drawing/2014/main" id="{4D1D0DEF-5834-489B-8503-1533E0C7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717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Эксперимент</a:t>
            </a:r>
          </a:p>
        </p:txBody>
      </p:sp>
      <p:sp>
        <p:nvSpPr>
          <p:cNvPr id="9" name="table-r0-c1">
            <a:extLst xmlns:a="http://schemas.openxmlformats.org/drawingml/2006/main">
              <a:ext uri="{FF2B5EF4-FFF2-40B4-BE49-F238E27FC236}">
                <a16:creationId xmlns:a16="http://schemas.microsoft.com/office/drawing/2014/main" id="{DF2B5602-0F8D-4A4D-8710-6AD3082F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1717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XUV</a:t>
            </a:r>
          </a:p>
        </p:txBody>
      </p:sp>
      <p:sp>
        <p:nvSpPr>
          <p:cNvPr id="10" name="table-r0-c2">
            <a:extLst xmlns:a="http://schemas.openxmlformats.org/drawingml/2006/main">
              <a:ext uri="{FF2B5EF4-FFF2-40B4-BE49-F238E27FC236}">
                <a16:creationId xmlns:a16="http://schemas.microsoft.com/office/drawing/2014/main" id="{7D9FC074-F471-4CA2-A18A-AC727B69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He</a:t>
            </a:r>
          </a:p>
        </p:txBody>
      </p:sp>
      <p:sp>
        <p:nvSpPr>
          <p:cNvPr id="11" name="table-r0-c3">
            <a:extLst xmlns:a="http://schemas.openxmlformats.org/drawingml/2006/main">
              <a:ext uri="{FF2B5EF4-FFF2-40B4-BE49-F238E27FC236}">
                <a16:creationId xmlns:a16="http://schemas.microsoft.com/office/drawing/2014/main" id="{3DE59B14-899E-4AD5-9D06-687E8728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717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logMsw</a:t>
            </a:r>
          </a:p>
        </p:txBody>
      </p:sp>
      <p:sp>
        <p:nvSpPr>
          <p:cNvPr id="12" name="table-r0-c4">
            <a:extLst xmlns:a="http://schemas.openxmlformats.org/drawingml/2006/main">
              <a:ext uri="{FF2B5EF4-FFF2-40B4-BE49-F238E27FC236}">
                <a16:creationId xmlns:a16="http://schemas.microsoft.com/office/drawing/2014/main" id="{7D5AE101-C01D-4E64-81F4-074DCFE9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1717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H2a AUC</a:t>
            </a:r>
          </a:p>
        </p:txBody>
      </p:sp>
      <p:sp>
        <p:nvSpPr>
          <p:cNvPr id="13" name="table-r0-c5">
            <a:extLst xmlns:a="http://schemas.openxmlformats.org/drawingml/2006/main">
              <a:ext uri="{FF2B5EF4-FFF2-40B4-BE49-F238E27FC236}">
                <a16:creationId xmlns:a16="http://schemas.microsoft.com/office/drawing/2014/main" id="{D28BCBFD-D1DD-468D-8FEA-0FCD95FD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71700"/>
            <a:ext cx="541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Статус / обязательная оговорка</a:t>
            </a:r>
          </a:p>
        </p:txBody>
      </p:sp>
      <p:sp>
        <p:nvSpPr>
          <p:cNvPr id="14" name="table-r1-c0">
            <a:extLst xmlns:a="http://schemas.openxmlformats.org/drawingml/2006/main">
              <a:ext uri="{FF2B5EF4-FFF2-40B4-BE49-F238E27FC236}">
                <a16:creationId xmlns:a16="http://schemas.microsoft.com/office/drawing/2014/main" id="{8BBF2273-5A6F-4963-8CEF-8922CDC5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Gradient Boosting</a:t>
            </a:r>
          </a:p>
        </p:txBody>
      </p:sp>
      <p:sp>
        <p:nvSpPr>
          <p:cNvPr id="15" name="table-r1-c1">
            <a:extLst xmlns:a="http://schemas.openxmlformats.org/drawingml/2006/main">
              <a:ext uri="{FF2B5EF4-FFF2-40B4-BE49-F238E27FC236}">
                <a16:creationId xmlns:a16="http://schemas.microsoft.com/office/drawing/2014/main" id="{7F2B9055-6307-4B69-86E7-A1B74304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6670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63.8</a:t>
            </a:r>
          </a:p>
        </p:txBody>
      </p:sp>
      <p:sp>
        <p:nvSpPr>
          <p:cNvPr id="16" name="table-r1-c2">
            <a:extLst xmlns:a="http://schemas.openxmlformats.org/drawingml/2006/main">
              <a:ext uri="{FF2B5EF4-FFF2-40B4-BE49-F238E27FC236}">
                <a16:creationId xmlns:a16="http://schemas.microsoft.com/office/drawing/2014/main" id="{629CD54C-DB32-45C5-BA9E-38681347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670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78.9</a:t>
            </a:r>
          </a:p>
        </p:txBody>
      </p:sp>
      <p:sp>
        <p:nvSpPr>
          <p:cNvPr id="17" name="table-r1-c3">
            <a:extLst xmlns:a="http://schemas.openxmlformats.org/drawingml/2006/main">
              <a:ext uri="{FF2B5EF4-FFF2-40B4-BE49-F238E27FC236}">
                <a16:creationId xmlns:a16="http://schemas.microsoft.com/office/drawing/2014/main" id="{5AF5ED9B-DB87-4793-A7B9-48D08EFF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6670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2.2</a:t>
            </a:r>
          </a:p>
        </p:txBody>
      </p:sp>
      <p:sp>
        <p:nvSpPr>
          <p:cNvPr id="18" name="table-r1-c4">
            <a:extLst xmlns:a="http://schemas.openxmlformats.org/drawingml/2006/main">
              <a:ext uri="{FF2B5EF4-FFF2-40B4-BE49-F238E27FC236}">
                <a16:creationId xmlns:a16="http://schemas.microsoft.com/office/drawing/2014/main" id="{52ECDED0-6228-4DFF-9C85-C9C689E4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670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0.892</a:t>
            </a:r>
          </a:p>
        </p:txBody>
      </p:sp>
      <p:sp>
        <p:nvSpPr>
          <p:cNvPr id="19" name="table-r1-c5">
            <a:extLst xmlns:a="http://schemas.openxmlformats.org/drawingml/2006/main">
              <a:ext uri="{FF2B5EF4-FFF2-40B4-BE49-F238E27FC236}">
                <a16:creationId xmlns:a16="http://schemas.microsoft.com/office/drawing/2014/main" id="{AE548B3F-D898-4F30-958F-67E018AE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67000"/>
            <a:ext cx="541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повторно рассчитан; single-answer baseline</a:t>
            </a:r>
          </a:p>
        </p:txBody>
      </p:sp>
      <p:sp>
        <p:nvSpPr>
          <p:cNvPr id="20" name="table-r2-c0">
            <a:extLst xmlns:a="http://schemas.openxmlformats.org/drawingml/2006/main">
              <a:ext uri="{FF2B5EF4-FFF2-40B4-BE49-F238E27FC236}">
                <a16:creationId xmlns:a16="http://schemas.microsoft.com/office/drawing/2014/main" id="{43E5118E-32A3-49FB-B9F5-2FCF1CBD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62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Single-head CNN</a:t>
            </a:r>
          </a:p>
        </p:txBody>
      </p:sp>
      <p:sp>
        <p:nvSpPr>
          <p:cNvPr id="21" name="table-r2-c1">
            <a:extLst xmlns:a="http://schemas.openxmlformats.org/drawingml/2006/main">
              <a:ext uri="{FF2B5EF4-FFF2-40B4-BE49-F238E27FC236}">
                <a16:creationId xmlns:a16="http://schemas.microsoft.com/office/drawing/2014/main" id="{8589440B-7B90-4188-910F-AA254968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1623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22.1</a:t>
            </a:r>
          </a:p>
        </p:txBody>
      </p:sp>
      <p:sp>
        <p:nvSpPr>
          <p:cNvPr id="22" name="table-r2-c2">
            <a:extLst xmlns:a="http://schemas.openxmlformats.org/drawingml/2006/main">
              <a:ext uri="{FF2B5EF4-FFF2-40B4-BE49-F238E27FC236}">
                <a16:creationId xmlns:a16="http://schemas.microsoft.com/office/drawing/2014/main" id="{C42D4C8A-A62A-44F2-9780-67C9B7A0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623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20.7</a:t>
            </a:r>
          </a:p>
        </p:txBody>
      </p:sp>
      <p:sp>
        <p:nvSpPr>
          <p:cNvPr id="23" name="table-r2-c3">
            <a:extLst xmlns:a="http://schemas.openxmlformats.org/drawingml/2006/main">
              <a:ext uri="{FF2B5EF4-FFF2-40B4-BE49-F238E27FC236}">
                <a16:creationId xmlns:a16="http://schemas.microsoft.com/office/drawing/2014/main" id="{58641280-3210-45D2-927A-9D988BDF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623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1.3</a:t>
            </a:r>
          </a:p>
        </p:txBody>
      </p:sp>
      <p:sp>
        <p:nvSpPr>
          <p:cNvPr id="24" name="table-r2-c4">
            <a:extLst xmlns:a="http://schemas.openxmlformats.org/drawingml/2006/main">
              <a:ext uri="{FF2B5EF4-FFF2-40B4-BE49-F238E27FC236}">
                <a16:creationId xmlns:a16="http://schemas.microsoft.com/office/drawing/2014/main" id="{B58902D0-4F62-41C5-9229-A06D7F63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623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0.996</a:t>
            </a:r>
          </a:p>
        </p:txBody>
      </p:sp>
      <p:sp>
        <p:nvSpPr>
          <p:cNvPr id="25" name="table-r2-c5">
            <a:extLst xmlns:a="http://schemas.openxmlformats.org/drawingml/2006/main">
              <a:ext uri="{FF2B5EF4-FFF2-40B4-BE49-F238E27FC236}">
                <a16:creationId xmlns:a16="http://schemas.microsoft.com/office/drawing/2014/main" id="{85D5399A-ADA6-4E64-9E50-F9AE7675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62300"/>
            <a:ext cx="541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archived notebook output; retrain не повторён</a:t>
            </a:r>
          </a:p>
        </p:txBody>
      </p:sp>
      <p:sp>
        <p:nvSpPr>
          <p:cNvPr id="26" name="table-r3-c0">
            <a:extLst xmlns:a="http://schemas.openxmlformats.org/drawingml/2006/main">
              <a:ext uri="{FF2B5EF4-FFF2-40B4-BE49-F238E27FC236}">
                <a16:creationId xmlns:a16="http://schemas.microsoft.com/office/drawing/2014/main" id="{E47C54A8-9257-4E02-8FB7-BAA811C5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57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Paper A · best-5</a:t>
            </a:r>
          </a:p>
        </p:txBody>
      </p:sp>
      <p:sp>
        <p:nvSpPr>
          <p:cNvPr id="27" name="table-r3-c1">
            <a:extLst xmlns:a="http://schemas.openxmlformats.org/drawingml/2006/main">
              <a:ext uri="{FF2B5EF4-FFF2-40B4-BE49-F238E27FC236}">
                <a16:creationId xmlns:a16="http://schemas.microsoft.com/office/drawing/2014/main" id="{F3F94F82-50D6-4CDA-A9DD-F6F51087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6576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15.1</a:t>
            </a:r>
          </a:p>
        </p:txBody>
      </p:sp>
      <p:sp>
        <p:nvSpPr>
          <p:cNvPr id="28" name="table-r3-c2">
            <a:extLst xmlns:a="http://schemas.openxmlformats.org/drawingml/2006/main">
              <a:ext uri="{FF2B5EF4-FFF2-40B4-BE49-F238E27FC236}">
                <a16:creationId xmlns:a16="http://schemas.microsoft.com/office/drawing/2014/main" id="{E7C822E5-7231-41B9-96FD-2337F987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576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12.4</a:t>
            </a:r>
          </a:p>
        </p:txBody>
      </p:sp>
      <p:sp>
        <p:nvSpPr>
          <p:cNvPr id="29" name="table-r3-c3">
            <a:extLst xmlns:a="http://schemas.openxmlformats.org/drawingml/2006/main">
              <a:ext uri="{FF2B5EF4-FFF2-40B4-BE49-F238E27FC236}">
                <a16:creationId xmlns:a16="http://schemas.microsoft.com/office/drawing/2014/main" id="{1D85E252-C22D-456A-A7EE-6C753151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576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0.8</a:t>
            </a:r>
          </a:p>
        </p:txBody>
      </p:sp>
      <p:sp>
        <p:nvSpPr>
          <p:cNvPr id="30" name="table-r3-c4">
            <a:extLst xmlns:a="http://schemas.openxmlformats.org/drawingml/2006/main">
              <a:ext uri="{FF2B5EF4-FFF2-40B4-BE49-F238E27FC236}">
                <a16:creationId xmlns:a16="http://schemas.microsoft.com/office/drawing/2014/main" id="{FA0AA34E-A1C0-4176-A761-655C0B7E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6576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0.980</a:t>
            </a:r>
          </a:p>
        </p:txBody>
      </p:sp>
      <p:sp>
        <p:nvSpPr>
          <p:cNvPr id="31" name="table-r3-c5">
            <a:extLst xmlns:a="http://schemas.openxmlformats.org/drawingml/2006/main">
              <a:ext uri="{FF2B5EF4-FFF2-40B4-BE49-F238E27FC236}">
                <a16:creationId xmlns:a16="http://schemas.microsoft.com/office/drawing/2014/main" id="{A907EFDD-45CE-468B-9697-B153C8BF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57600"/>
            <a:ext cx="541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archived output; split/protocol не идентичны draft</a:t>
            </a:r>
          </a:p>
        </p:txBody>
      </p:sp>
      <p:sp>
        <p:nvSpPr>
          <p:cNvPr id="32" name="table-r4-c0">
            <a:extLst xmlns:a="http://schemas.openxmlformats.org/drawingml/2006/main">
              <a:ext uri="{FF2B5EF4-FFF2-40B4-BE49-F238E27FC236}">
                <a16:creationId xmlns:a16="http://schemas.microsoft.com/office/drawing/2014/main" id="{7AE0DE71-20B9-44CC-B156-5E6D403E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52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Main B · best-5</a:t>
            </a:r>
          </a:p>
        </p:txBody>
      </p:sp>
      <p:sp>
        <p:nvSpPr>
          <p:cNvPr id="33" name="table-r4-c1">
            <a:extLst xmlns:a="http://schemas.openxmlformats.org/drawingml/2006/main">
              <a:ext uri="{FF2B5EF4-FFF2-40B4-BE49-F238E27FC236}">
                <a16:creationId xmlns:a16="http://schemas.microsoft.com/office/drawing/2014/main" id="{D309911C-1E6D-43BD-8E98-44A89D09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1529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10.8</a:t>
            </a:r>
          </a:p>
        </p:txBody>
      </p:sp>
      <p:sp>
        <p:nvSpPr>
          <p:cNvPr id="34" name="table-r4-c2">
            <a:extLst xmlns:a="http://schemas.openxmlformats.org/drawingml/2006/main">
              <a:ext uri="{FF2B5EF4-FFF2-40B4-BE49-F238E27FC236}">
                <a16:creationId xmlns:a16="http://schemas.microsoft.com/office/drawing/2014/main" id="{3376CAE9-7C39-44E5-8E84-30B3FB0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529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9.7</a:t>
            </a:r>
          </a:p>
        </p:txBody>
      </p:sp>
      <p:sp>
        <p:nvSpPr>
          <p:cNvPr id="35" name="table-r4-c3">
            <a:extLst xmlns:a="http://schemas.openxmlformats.org/drawingml/2006/main">
              <a:ext uri="{FF2B5EF4-FFF2-40B4-BE49-F238E27FC236}">
                <a16:creationId xmlns:a16="http://schemas.microsoft.com/office/drawing/2014/main" id="{E3C58C6A-ED57-4769-BE50-4583F3AE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152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0.6</a:t>
            </a:r>
          </a:p>
        </p:txBody>
      </p:sp>
      <p:sp>
        <p:nvSpPr>
          <p:cNvPr id="36" name="table-r4-c4">
            <a:extLst xmlns:a="http://schemas.openxmlformats.org/drawingml/2006/main">
              <a:ext uri="{FF2B5EF4-FFF2-40B4-BE49-F238E27FC236}">
                <a16:creationId xmlns:a16="http://schemas.microsoft.com/office/drawing/2014/main" id="{49F77625-45F4-4DC8-A290-CAA785B2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152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0.995</a:t>
            </a:r>
          </a:p>
        </p:txBody>
      </p:sp>
      <p:sp>
        <p:nvSpPr>
          <p:cNvPr id="37" name="table-r4-c5">
            <a:extLst xmlns:a="http://schemas.openxmlformats.org/drawingml/2006/main">
              <a:ext uri="{FF2B5EF4-FFF2-40B4-BE49-F238E27FC236}">
                <a16:creationId xmlns:a16="http://schemas.microsoft.com/office/drawing/2014/main" id="{8BC90A54-42F0-4730-8AC7-E0A0EBAE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152900"/>
            <a:ext cx="541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checkpoint inference повторён; coordinate-wise oracle</a:t>
            </a:r>
          </a:p>
        </p:txBody>
      </p:sp>
      <p:sp>
        <p:nvSpPr>
          <p:cNvPr id="38" name="table-r5-c0">
            <a:extLst xmlns:a="http://schemas.openxmlformats.org/drawingml/2006/main">
              <a:ext uri="{FF2B5EF4-FFF2-40B4-BE49-F238E27FC236}">
                <a16:creationId xmlns:a16="http://schemas.microsoft.com/office/drawing/2014/main" id="{9E35B555-D6DB-43BF-939E-3B0176FC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48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TCN · best-5</a:t>
            </a:r>
          </a:p>
        </p:txBody>
      </p:sp>
      <p:sp>
        <p:nvSpPr>
          <p:cNvPr id="39" name="table-r5-c1">
            <a:extLst xmlns:a="http://schemas.openxmlformats.org/drawingml/2006/main">
              <a:ext uri="{FF2B5EF4-FFF2-40B4-BE49-F238E27FC236}">
                <a16:creationId xmlns:a16="http://schemas.microsoft.com/office/drawing/2014/main" id="{5C425E97-188C-478F-8597-A15E6A26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6482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16.9</a:t>
            </a:r>
          </a:p>
        </p:txBody>
      </p:sp>
      <p:sp>
        <p:nvSpPr>
          <p:cNvPr id="40" name="table-r5-c2">
            <a:extLst xmlns:a="http://schemas.openxmlformats.org/drawingml/2006/main">
              <a:ext uri="{FF2B5EF4-FFF2-40B4-BE49-F238E27FC236}">
                <a16:creationId xmlns:a16="http://schemas.microsoft.com/office/drawing/2014/main" id="{513C95FE-E047-48DC-A6BF-0521EA02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482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11.3</a:t>
            </a:r>
          </a:p>
        </p:txBody>
      </p:sp>
      <p:sp>
        <p:nvSpPr>
          <p:cNvPr id="41" name="table-r5-c3">
            <a:extLst xmlns:a="http://schemas.openxmlformats.org/drawingml/2006/main">
              <a:ext uri="{FF2B5EF4-FFF2-40B4-BE49-F238E27FC236}">
                <a16:creationId xmlns:a16="http://schemas.microsoft.com/office/drawing/2014/main" id="{3E9209AA-5860-44B4-92B7-1E4E1D04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648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0.8</a:t>
            </a:r>
          </a:p>
        </p:txBody>
      </p:sp>
      <p:sp>
        <p:nvSpPr>
          <p:cNvPr id="42" name="table-r5-c4">
            <a:extLst xmlns:a="http://schemas.openxmlformats.org/drawingml/2006/main">
              <a:ext uri="{FF2B5EF4-FFF2-40B4-BE49-F238E27FC236}">
                <a16:creationId xmlns:a16="http://schemas.microsoft.com/office/drawing/2014/main" id="{E2C022CE-A724-4322-B7B8-9AF6AAAC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648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0.981</a:t>
            </a:r>
          </a:p>
        </p:txBody>
      </p:sp>
      <p:sp>
        <p:nvSpPr>
          <p:cNvPr id="43" name="table-r5-c5">
            <a:extLst xmlns:a="http://schemas.openxmlformats.org/drawingml/2006/main">
              <a:ext uri="{FF2B5EF4-FFF2-40B4-BE49-F238E27FC236}">
                <a16:creationId xmlns:a16="http://schemas.microsoft.com/office/drawing/2014/main" id="{BD60633D-1582-47BA-82FD-E017158C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48200"/>
            <a:ext cx="541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archived output; weights отсутствуют</a:t>
            </a:r>
          </a:p>
        </p:txBody>
      </p:sp>
      <p:sp>
        <p:nvSpPr>
          <p:cNvPr id="44" name="table-r6-c0">
            <a:extLst xmlns:a="http://schemas.openxmlformats.org/drawingml/2006/main">
              <a:ext uri="{FF2B5EF4-FFF2-40B4-BE49-F238E27FC236}">
                <a16:creationId xmlns:a16="http://schemas.microsoft.com/office/drawing/2014/main" id="{39021826-4A17-49F0-A8FE-C45A293E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43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Inception · best-5</a:t>
            </a:r>
          </a:p>
        </p:txBody>
      </p:sp>
      <p:sp>
        <p:nvSpPr>
          <p:cNvPr id="45" name="table-r6-c1">
            <a:extLst xmlns:a="http://schemas.openxmlformats.org/drawingml/2006/main">
              <a:ext uri="{FF2B5EF4-FFF2-40B4-BE49-F238E27FC236}">
                <a16:creationId xmlns:a16="http://schemas.microsoft.com/office/drawing/2014/main" id="{923657B1-D0EF-45D1-B57A-BB91F32A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435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10.9</a:t>
            </a:r>
          </a:p>
        </p:txBody>
      </p:sp>
      <p:sp>
        <p:nvSpPr>
          <p:cNvPr id="46" name="table-r6-c2">
            <a:extLst xmlns:a="http://schemas.openxmlformats.org/drawingml/2006/main">
              <a:ext uri="{FF2B5EF4-FFF2-40B4-BE49-F238E27FC236}">
                <a16:creationId xmlns:a16="http://schemas.microsoft.com/office/drawing/2014/main" id="{F4CE1B05-E9BF-4CBC-BB85-DDA14B0D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435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8.8</a:t>
            </a:r>
          </a:p>
        </p:txBody>
      </p:sp>
      <p:sp>
        <p:nvSpPr>
          <p:cNvPr id="47" name="table-r6-c3">
            <a:extLst xmlns:a="http://schemas.openxmlformats.org/drawingml/2006/main">
              <a:ext uri="{FF2B5EF4-FFF2-40B4-BE49-F238E27FC236}">
                <a16:creationId xmlns:a16="http://schemas.microsoft.com/office/drawing/2014/main" id="{732B23BD-682B-46EC-9545-1A6B0DB3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1435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0.7</a:t>
            </a:r>
          </a:p>
        </p:txBody>
      </p:sp>
      <p:sp>
        <p:nvSpPr>
          <p:cNvPr id="48" name="table-r6-c4">
            <a:extLst xmlns:a="http://schemas.openxmlformats.org/drawingml/2006/main">
              <a:ext uri="{FF2B5EF4-FFF2-40B4-BE49-F238E27FC236}">
                <a16:creationId xmlns:a16="http://schemas.microsoft.com/office/drawing/2014/main" id="{4040FCD7-08CA-4710-956D-7ED564E6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1435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0.982</a:t>
            </a:r>
          </a:p>
        </p:txBody>
      </p:sp>
      <p:sp>
        <p:nvSpPr>
          <p:cNvPr id="49" name="table-r6-c5">
            <a:extLst xmlns:a="http://schemas.openxmlformats.org/drawingml/2006/main">
              <a:ext uri="{FF2B5EF4-FFF2-40B4-BE49-F238E27FC236}">
                <a16:creationId xmlns:a16="http://schemas.microsoft.com/office/drawing/2014/main" id="{7A40D0D0-8D91-4894-8B0B-07D868CA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143500"/>
            <a:ext cx="541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archived output; weights отсутствуют</a:t>
            </a:r>
          </a:p>
        </p:txBody>
      </p:sp>
      <p:sp>
        <p:nvSpPr>
          <p:cNvPr id="50" name="table-r7-c0">
            <a:extLst xmlns:a="http://schemas.openxmlformats.org/drawingml/2006/main">
              <a:ext uri="{FF2B5EF4-FFF2-40B4-BE49-F238E27FC236}">
                <a16:creationId xmlns:a16="http://schemas.microsoft.com/office/drawing/2014/main" id="{808265D4-9181-4CF1-827A-D9CC132B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38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Conditioning clean · best-5</a:t>
            </a:r>
          </a:p>
        </p:txBody>
      </p:sp>
      <p:sp>
        <p:nvSpPr>
          <p:cNvPr id="51" name="table-r7-c1">
            <a:extLst xmlns:a="http://schemas.openxmlformats.org/drawingml/2006/main">
              <a:ext uri="{FF2B5EF4-FFF2-40B4-BE49-F238E27FC236}">
                <a16:creationId xmlns:a16="http://schemas.microsoft.com/office/drawing/2014/main" id="{1963A927-EF6D-40AC-8A1B-454C5A78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6388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9.02</a:t>
            </a:r>
          </a:p>
        </p:txBody>
      </p:sp>
      <p:sp>
        <p:nvSpPr>
          <p:cNvPr id="52" name="table-r7-c2">
            <a:extLst xmlns:a="http://schemas.openxmlformats.org/drawingml/2006/main">
              <a:ext uri="{FF2B5EF4-FFF2-40B4-BE49-F238E27FC236}">
                <a16:creationId xmlns:a16="http://schemas.microsoft.com/office/drawing/2014/main" id="{CDB05E07-CC97-4734-9B53-F773AF19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6388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8.62</a:t>
            </a:r>
          </a:p>
        </p:txBody>
      </p:sp>
      <p:sp>
        <p:nvSpPr>
          <p:cNvPr id="53" name="table-r7-c3">
            <a:extLst xmlns:a="http://schemas.openxmlformats.org/drawingml/2006/main">
              <a:ext uri="{FF2B5EF4-FFF2-40B4-BE49-F238E27FC236}">
                <a16:creationId xmlns:a16="http://schemas.microsoft.com/office/drawing/2014/main" id="{FAAF2B45-F131-4C1B-88C3-C6629356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6388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0.659</a:t>
            </a:r>
          </a:p>
        </p:txBody>
      </p:sp>
      <p:sp>
        <p:nvSpPr>
          <p:cNvPr id="54" name="table-r7-c4">
            <a:extLst xmlns:a="http://schemas.openxmlformats.org/drawingml/2006/main">
              <a:ext uri="{FF2B5EF4-FFF2-40B4-BE49-F238E27FC236}">
                <a16:creationId xmlns:a16="http://schemas.microsoft.com/office/drawing/2014/main" id="{371B3D8C-EF32-4469-B19D-1AE6FB3C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6388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0.9968</a:t>
            </a:r>
          </a:p>
        </p:txBody>
      </p:sp>
      <p:sp>
        <p:nvSpPr>
          <p:cNvPr id="55" name="table-r7-c5">
            <a:extLst xmlns:a="http://schemas.openxmlformats.org/drawingml/2006/main">
              <a:ext uri="{FF2B5EF4-FFF2-40B4-BE49-F238E27FC236}">
                <a16:creationId xmlns:a16="http://schemas.microsoft.com/office/drawing/2014/main" id="{BFB9FA4C-74C1-4127-A1AC-B84ADA8C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638800"/>
            <a:ext cx="541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clean train-only full retrain; coordinate-wise oracle</a:t>
            </a:r>
          </a:p>
        </p:txBody>
      </p:sp>
    </p:spTree>
    <p:extLst>
      <p:ext uri="{BB962C8B-B14F-4D97-AF65-F5344CB8AC3E}">
        <p14:creationId xmlns:p14="http://schemas.microsoft.com/office/powerpoint/2010/main" val="1760317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2026-07-29T00:43:58.7610000Z</dcterms:created>
  <dcterms:modified xsi:type="dcterms:W3CDTF">2026-07-29T00:43:58.7610000Z</dcterms:modified>
</coreProperties>
</file>