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9" r:id="rId2"/>
    <p:sldId id="264" r:id="rId3"/>
    <p:sldId id="269" r:id="rId4"/>
    <p:sldId id="26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11" d="100"/>
          <a:sy n="111" d="100"/>
        </p:scale>
        <p:origin x="1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6DCB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2.2000000000000002</c:v>
              </c:pt>
              <c:pt idx="2">
                <c:v>3.5</c:v>
              </c:pt>
              <c:pt idx="3">
                <c:v>5.8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AB9-504B-90D3-01C8A7ADB926}"/>
            </c:ext>
          </c:extLst>
        </c:ser>
        <c:ser>
          <c:idx val="1"/>
          <c:order val="1"/>
          <c:tx>
            <c:v>Series 2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AB9-504B-90D3-01C8A7ADB9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ru-RU"/>
          </a:p>
        </c:txPr>
        <c:crossAx val="48650112"/>
        <c:crosses val="autoZero"/>
        <c:crossBetween val="between"/>
        <c:majorUnit val="2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XUV MAPE, %</c:v>
          </c:tx>
          <c:spPr>
            <a:solidFill>
              <a:srgbClr val="6DCB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Paper A</c:v>
              </c:pt>
              <c:pt idx="1">
                <c:v>TCN</c:v>
              </c:pt>
              <c:pt idx="2">
                <c:v>Inception</c:v>
              </c:pt>
              <c:pt idx="3">
                <c:v>Main B</c:v>
              </c:pt>
              <c:pt idx="4">
                <c:v>Conditioning*</c:v>
              </c:pt>
            </c:strLit>
          </c:cat>
          <c:val>
            <c:numLit>
              <c:formatCode>General</c:formatCode>
              <c:ptCount val="5"/>
              <c:pt idx="0">
                <c:v>15.1</c:v>
              </c:pt>
              <c:pt idx="1">
                <c:v>16.899999999999999</c:v>
              </c:pt>
              <c:pt idx="2">
                <c:v>10.9</c:v>
              </c:pt>
              <c:pt idx="3">
                <c:v>10.8</c:v>
              </c:pt>
              <c:pt idx="4">
                <c:v>9.8000000000000007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406-3A48-AEC9-6FF2C8008BC4}"/>
            </c:ext>
          </c:extLst>
        </c:ser>
        <c:ser>
          <c:idx val="1"/>
          <c:order val="1"/>
          <c:tx>
            <c:v>Helium MAPE, %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Paper A</c:v>
              </c:pt>
              <c:pt idx="1">
                <c:v>TCN</c:v>
              </c:pt>
              <c:pt idx="2">
                <c:v>Inception</c:v>
              </c:pt>
              <c:pt idx="3">
                <c:v>Main B</c:v>
              </c:pt>
              <c:pt idx="4">
                <c:v>Conditioning*</c:v>
              </c:pt>
            </c:strLit>
          </c:cat>
          <c:val>
            <c:numLit>
              <c:formatCode>General</c:formatCode>
              <c:ptCount val="5"/>
              <c:pt idx="0">
                <c:v>12.4</c:v>
              </c:pt>
              <c:pt idx="1">
                <c:v>11.3</c:v>
              </c:pt>
              <c:pt idx="2">
                <c:v>8.8000000000000007</c:v>
              </c:pt>
              <c:pt idx="3">
                <c:v>9.6999999999999993</c:v>
              </c:pt>
              <c:pt idx="4">
                <c:v>8.9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406-3A48-AEC9-6FF2C8008B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F6368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00000"/>
                </a:solidFill>
              </a:defRPr>
            </a:pPr>
            <a:endParaRPr lang="ru-RU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000000"/>
              </a:solidFill>
            </a:defRPr>
          </a:pPr>
          <a:endParaRPr lang="ru-RU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Подчеркнуть, что каждый из 25 кандидатов — совместный трёхмерный вектор. Coordinate-wise oracle позже разрушает эту совместность при подсчёте метрики.</a:t>
            </a:r>
          </a:p>
          <a:p>
            <a:endParaRPr/>
          </a:p>
          <a:p>
            <a:r>
              <a:t>[Sources]</a:t>
            </a:r>
          </a:p>
          <a:p>
            <a:r>
              <a:t>- /Users/aidarryazhapov/Documents/absorb/pro/model_defs.py — определения CNN backbone, regression heads и H2a head</a:t>
            </a:r>
          </a:p>
          <a:p>
            <a:r>
              <a:t>- /Users/aidarryazhapov/Documents/absorb/pro/training_plots/architecture.png — локальная схема архитектуры</a:t>
            </a:r>
          </a:p>
          <a:p>
            <a:r>
              <a:t>- /Users/aidarryazhapov/Documents/absorb/pro/AUDIT_REPORT.md — раздел «Архитектура» и подсчёт параметров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интерпретировать Conditioning как победителя: это ветка с leakage. Paper A/TCN/Inception показаны как архивные результаты notebook, а не как независимо повторённые retrain.</a:t>
            </a:r>
          </a:p>
          <a:p>
            <a:endParaRPr/>
          </a:p>
          <a:p>
            <a:r>
              <a:t>[Sources]</a:t>
            </a:r>
          </a:p>
          <a:p>
            <a:r>
              <a:t>- /Users/aidarryazhapov/Documents/absorb/pro/AUDIT_REPORT.md — сводная таблица экспериментов и уровни evidence</a:t>
            </a:r>
          </a:p>
          <a:p>
            <a:r>
              <a:t>- /Users/aidarryazhapov/Documents/absorb/pro/paper_comparison.ipynb — Paper A/Main B outputs</a:t>
            </a:r>
          </a:p>
          <a:p>
            <a:r>
              <a:t>- /Users/aidarryazhapov/Documents/absorb/pro/tcn_solution.ipynb — TCN output</a:t>
            </a:r>
          </a:p>
          <a:p>
            <a:r>
              <a:t>- /Users/aidarryazhapov/Documents/absorb/pro/inceptiontime_solution.ipynb — InceptionTime output</a:t>
            </a:r>
          </a:p>
          <a:p>
            <a:r>
              <a:t>- /Users/aidarryazhapov/Documents/absorb/pro/aux_conditioning.ipynb — conditioned output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Отдельные XUV-max/pretrain результаты не включены в основную таблицу из-за несовместимых k и/или отсутствия end-to-end provenance. При вопросе сослаться на полный audit report.</a:t>
            </a:r>
          </a:p>
          <a:p>
            <a:endParaRPr/>
          </a:p>
          <a:p>
            <a:r>
              <a:t>[Sources]</a:t>
            </a:r>
          </a:p>
          <a:p>
            <a:r>
              <a:t>- /Users/aidarryazhapov/Documents/absorb/pro/AUDIT_REPORT.md — полная матрица экспериментов, evidence status и caveats</a:t>
            </a:r>
          </a:p>
          <a:p>
            <a:r>
              <a:t>- /Users/aidarryazhapov/Documents/absorb/pro/dl_pro.ipynb — Main B</a:t>
            </a:r>
          </a:p>
          <a:p>
            <a:r>
              <a:t>- /Users/aidarryazhapov/Documents/absorb/pro/paper_comparison.ipynb — Paper A и single-head CNN</a:t>
            </a:r>
          </a:p>
          <a:p>
            <a:r>
              <a:t>- /Users/aidarryazhapov/Documents/absorb/pro/tcn_solution.ipynb — TCN</a:t>
            </a:r>
          </a:p>
          <a:p>
            <a:r>
              <a:t>- /Users/aidarryazhapov/Documents/absorb/pro/inceptiontime_solution.ipynb — InceptionTime</a:t>
            </a:r>
          </a:p>
          <a:p>
            <a:r>
              <a:t>- /Users/aidarryazhapov/Documents/absorb/pro/aux_conditioning.ipynb — Conditioning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Использовать при технических вопросах. Параметр 0.1 относится к mean-head regularization в WTA loss; коэффициенты ranker следует показывать отдельно от CNN loss.</a:t>
            </a:r>
          </a:p>
          <a:p>
            <a:endParaRPr/>
          </a:p>
          <a:p>
            <a:r>
              <a:t>[Sources]</a:t>
            </a:r>
          </a:p>
          <a:p>
            <a:r>
              <a:t>- /Users/aidarryazhapov/Documents/absorb/pro/model_defs.py — архитектура и loss</a:t>
            </a:r>
          </a:p>
          <a:p>
            <a:r>
              <a:t>- /Users/aidarryazhapov/Documents/absorb/pro/train_and_save.py — обучение ансамбля и ranker</a:t>
            </a:r>
          </a:p>
          <a:p>
            <a:r>
              <a:t>- /Users/aidarryazhapov/Documents/absorb/pro/AUDIT_REPORT.md — таблица параметров обучения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-Shape-532-p58-2">
            <a:extLst>
              <a:ext uri="{FF2B5EF4-FFF2-40B4-BE49-F238E27FC236}">
                <a16:creationId xmlns:a16="http://schemas.microsoft.com/office/drawing/2014/main" id="{4349FEBA-B77B-4326-BF64-92BB49070103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730FCAEB-D1E6-4A41-8681-9F443D47454D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Архитектура: 25 совместных кандидатов из ансамбля WTA-CNN</a:t>
            </a:r>
          </a:p>
        </p:txBody>
      </p:sp>
      <p:sp>
        <p:nvSpPr>
          <p:cNvPr id="3" name="Picture-3-4-backing">
            <a:extLst>
              <a:ext uri="{FF2B5EF4-FFF2-40B4-BE49-F238E27FC236}">
                <a16:creationId xmlns:a16="http://schemas.microsoft.com/office/drawing/2014/main" id="{A87B1542-C476-4A54-A8FD-F09AE7D2D294}"/>
              </a:ext>
            </a:extLst>
          </p:cNvPr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>
              <a:ext uri="{FF2B5EF4-FFF2-40B4-BE49-F238E27FC236}">
                <a16:creationId xmlns:a16="http://schemas.microsoft.com/office/drawing/2014/main" id="{FDDB8B4C-B0EC-4475-866E-2D0A3CFA81BB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/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/>
          </a:p>
        </p:txBody>
      </p:sp>
      <p:sp>
        <p:nvSpPr>
          <p:cNvPr id="6" name="architecture-image-cover">
            <a:extLst>
              <a:ext uri="{FF2B5EF4-FFF2-40B4-BE49-F238E27FC236}">
                <a16:creationId xmlns:a16="http://schemas.microsoft.com/office/drawing/2014/main" id="{5ECDCD4A-F070-48F6-8C54-49ACD9382216}"/>
              </a:ext>
            </a:extLst>
          </p:cNvPr>
          <p:cNvSpPr>
            <a:spLocks noGrp="1"/>
          </p:cNvSpPr>
          <p:nvPr/>
        </p:nvSpPr>
        <p:spPr>
          <a:xfrm>
            <a:off x="6153150" y="323850"/>
            <a:ext cx="5715000" cy="57435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architecture-title-cover">
            <a:extLst>
              <a:ext uri="{FF2B5EF4-FFF2-40B4-BE49-F238E27FC236}">
                <a16:creationId xmlns:a16="http://schemas.microsoft.com/office/drawing/2014/main" id="{2D8D9D06-817F-4157-AD1C-1C894066267F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11544300" cy="10001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architecture-title-restored">
            <a:extLst>
              <a:ext uri="{FF2B5EF4-FFF2-40B4-BE49-F238E27FC236}">
                <a16:creationId xmlns:a16="http://schemas.microsoft.com/office/drawing/2014/main" id="{0F26F622-1C32-4DC8-AA5A-C73EBE12C9FE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10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Архитектура: 25 совместных кандидатов из ансамбля WTA-CNN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96125" y="1110464"/>
            <a:ext cx="7028808" cy="4832708"/>
          </a:xfrm>
          <a:prstGeom prst="rect">
            <a:avLst/>
          </a:prstGeom>
        </p:spPr>
      </p:pic>
      <p:sp>
        <p:nvSpPr>
          <p:cNvPr id="10" name="architecture-stat-strip">
            <a:extLst>
              <a:ext uri="{FF2B5EF4-FFF2-40B4-BE49-F238E27FC236}">
                <a16:creationId xmlns:a16="http://schemas.microsoft.com/office/drawing/2014/main" id="{818D54E4-036E-4B37-AD1A-C4D8CD0CE224}"/>
              </a:ext>
            </a:extLst>
          </p:cNvPr>
          <p:cNvSpPr>
            <a:spLocks noGrp="1"/>
          </p:cNvSpPr>
          <p:nvPr/>
        </p:nvSpPr>
        <p:spPr>
          <a:xfrm>
            <a:off x="4673457" y="5924122"/>
            <a:ext cx="5476875" cy="685800"/>
          </a:xfrm>
          <a:prstGeom prst="rect">
            <a:avLst/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architecture-params">
            <a:extLst>
              <a:ext uri="{FF2B5EF4-FFF2-40B4-BE49-F238E27FC236}">
                <a16:creationId xmlns:a16="http://schemas.microsoft.com/office/drawing/2014/main" id="{4FA6914F-1207-42F5-8890-F8E7B2082F6B}"/>
              </a:ext>
            </a:extLst>
          </p:cNvPr>
          <p:cNvSpPr>
            <a:spLocks noGrp="1"/>
          </p:cNvSpPr>
          <p:nvPr/>
        </p:nvSpPr>
        <p:spPr>
          <a:xfrm>
            <a:off x="4883007" y="6114622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372"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2.29M параметров / seed  ·  11.53M с ансамблем и ranker</a:t>
            </a:r>
          </a:p>
        </p:txBody>
      </p:sp>
      <p:sp>
        <p:nvSpPr>
          <p:cNvPr id="12" name="architecture-accent">
            <a:extLst>
              <a:ext uri="{FF2B5EF4-FFF2-40B4-BE49-F238E27FC236}">
                <a16:creationId xmlns:a16="http://schemas.microsoft.com/office/drawing/2014/main" id="{4CBAEFF2-48DB-4959-A411-941361062858}"/>
              </a:ext>
            </a:extLst>
          </p:cNvPr>
          <p:cNvSpPr>
            <a:spLocks noGrp="1"/>
          </p:cNvSpPr>
          <p:nvPr/>
        </p:nvSpPr>
        <p:spPr>
          <a:xfrm>
            <a:off x="390525" y="1552575"/>
            <a:ext cx="857250" cy="666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architecture-copy">
            <a:extLst>
              <a:ext uri="{FF2B5EF4-FFF2-40B4-BE49-F238E27FC236}">
                <a16:creationId xmlns:a16="http://schemas.microsoft.com/office/drawing/2014/main" id="{475A506C-4EF0-4AD7-81F6-8593F7E24934}"/>
              </a:ext>
            </a:extLst>
          </p:cNvPr>
          <p:cNvSpPr>
            <a:spLocks noGrp="1"/>
          </p:cNvSpPr>
          <p:nvPr/>
        </p:nvSpPr>
        <p:spPr>
          <a:xfrm>
            <a:off x="390525" y="1790700"/>
            <a:ext cx="5429250" cy="404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ВХОД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2 × 101</a:t>
            </a:r>
          </a:p>
          <a:p>
            <a:endParaRPr sz="1650" b="0">
              <a:solidFill>
                <a:srgbClr val="000000"/>
              </a:solidFill>
            </a:endParaRP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BACKBONE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Conv1d: 2→64→128→128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kernel 5 · BN · ReLU · MaxPool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flatten = 1536</a:t>
            </a:r>
          </a:p>
          <a:p>
            <a:endParaRPr sz="1650" b="0">
              <a:solidFill>
                <a:srgbClr val="000000"/>
              </a:solidFill>
            </a:endParaRP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HEADS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5 × (1536→256→3)</a:t>
            </a:r>
          </a:p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H2a: 1536→128→1</a:t>
            </a:r>
          </a:p>
        </p:txBody>
      </p:sp>
    </p:spTree>
    <p:extLst>
      <p:ext uri="{BB962C8B-B14F-4D97-AF65-F5344CB8AC3E}">
        <p14:creationId xmlns:p14="http://schemas.microsoft.com/office/powerpoint/2010/main" val="531311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-Shape-532-p58-2">
            <a:extLst>
              <a:ext uri="{FF2B5EF4-FFF2-40B4-BE49-F238E27FC236}">
                <a16:creationId xmlns:a16="http://schemas.microsoft.com/office/drawing/2014/main" id="{802AC73F-943C-4A06-BB2F-BF0BAD9C7F43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77611890-3281-48A8-950B-D9D07119CB2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Карта экспериментов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408718" y="1054132"/>
          <a:ext cx="5124164" cy="5452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="408718" y="1054132"/>
          <a:ext cx="5124164" cy="5452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418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-Shape-532-p58-2">
            <a:extLst>
              <a:ext uri="{FF2B5EF4-FFF2-40B4-BE49-F238E27FC236}">
                <a16:creationId xmlns:a16="http://schemas.microsoft.com/office/drawing/2014/main" id="{BB919476-8939-4536-9C5A-B67389020EE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A2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1F6E0E1E-6B3F-4372-AF69-1ED5E73336E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Приложение B · матрица экспериментов</a:t>
            </a:r>
          </a:p>
        </p:txBody>
      </p:sp>
      <p:sp>
        <p:nvSpPr>
          <p:cNvPr id="3" name="Content-Placeholder-15-4">
            <a:extLst>
              <a:ext uri="{FF2B5EF4-FFF2-40B4-BE49-F238E27FC236}">
                <a16:creationId xmlns:a16="http://schemas.microsoft.com/office/drawing/2014/main" id="{C926A737-B7F2-432A-B0F0-1A06F897E8CA}"/>
              </a:ext>
            </a:extLst>
          </p:cNvPr>
          <p:cNvSpPr>
            <a:spLocks noGrp="1"/>
          </p:cNvSpPr>
          <p:nvPr/>
        </p:nvSpPr>
        <p:spPr>
          <a:xfrm>
            <a:off x="400907" y="1057466"/>
            <a:ext cx="11404568" cy="101222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— %,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указано</a:t>
            </a:r>
            <a:r>
              <a:rPr dirty="0"/>
              <a:t> </a:t>
            </a:r>
            <a:r>
              <a:rPr dirty="0" err="1"/>
              <a:t>иное</a:t>
            </a:r>
            <a:endParaRPr dirty="0"/>
          </a:p>
        </p:txBody>
      </p:sp>
      <p:sp>
        <p:nvSpPr>
          <p:cNvPr id="5" name="experiment-appendix-title-cover">
            <a:extLst>
              <a:ext uri="{FF2B5EF4-FFF2-40B4-BE49-F238E27FC236}">
                <a16:creationId xmlns:a16="http://schemas.microsoft.com/office/drawing/2014/main" id="{73E47801-F3FC-4598-8F48-648ED2009C5D}"/>
              </a:ext>
            </a:extLst>
          </p:cNvPr>
          <p:cNvSpPr>
            <a:spLocks noGrp="1"/>
          </p:cNvSpPr>
          <p:nvPr/>
        </p:nvSpPr>
        <p:spPr>
          <a:xfrm>
            <a:off x="323850" y="266700"/>
            <a:ext cx="11544300" cy="742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experiment-appendix-title-restored">
            <a:extLst>
              <a:ext uri="{FF2B5EF4-FFF2-40B4-BE49-F238E27FC236}">
                <a16:creationId xmlns:a16="http://schemas.microsoft.com/office/drawing/2014/main" id="{33BF7EB3-0283-4DD1-B202-F4C5C0F9F682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10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00" b="0">
                <a:solidFill>
                  <a:srgbClr val="000000"/>
                </a:solidFill>
              </a:defRPr>
            </a:pPr>
            <a:r>
              <a:rPr sz="2900" b="0" dirty="0" err="1">
                <a:solidFill>
                  <a:srgbClr val="000000"/>
                </a:solidFill>
              </a:rPr>
              <a:t>матрица</a:t>
            </a:r>
            <a:r>
              <a:rPr sz="2900" b="0" dirty="0">
                <a:solidFill>
                  <a:srgbClr val="000000"/>
                </a:solidFill>
              </a:rPr>
              <a:t> </a:t>
            </a:r>
            <a:r>
              <a:rPr sz="2900" b="0" dirty="0" err="1">
                <a:solidFill>
                  <a:srgbClr val="000000"/>
                </a:solidFill>
              </a:rPr>
              <a:t>экспериментов</a:t>
            </a:r>
            <a:endParaRPr sz="2900" b="0" dirty="0">
              <a:solidFill>
                <a:srgbClr val="000000"/>
              </a:solidFill>
            </a:endParaRPr>
          </a:p>
        </p:txBody>
      </p:sp>
      <p:sp>
        <p:nvSpPr>
          <p:cNvPr id="8" name="table-r0-c0">
            <a:extLst>
              <a:ext uri="{FF2B5EF4-FFF2-40B4-BE49-F238E27FC236}">
                <a16:creationId xmlns:a16="http://schemas.microsoft.com/office/drawing/2014/main" id="{4D1D0DEF-5834-489B-8503-1533E0C72B92}"/>
              </a:ext>
            </a:extLst>
          </p:cNvPr>
          <p:cNvSpPr>
            <a:spLocks noGrp="1"/>
          </p:cNvSpPr>
          <p:nvPr/>
        </p:nvSpPr>
        <p:spPr>
          <a:xfrm>
            <a:off x="390525" y="2171700"/>
            <a:ext cx="2095500" cy="49530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Эксперимент</a:t>
            </a:r>
          </a:p>
        </p:txBody>
      </p:sp>
      <p:sp>
        <p:nvSpPr>
          <p:cNvPr id="9" name="table-r0-c1">
            <a:extLst>
              <a:ext uri="{FF2B5EF4-FFF2-40B4-BE49-F238E27FC236}">
                <a16:creationId xmlns:a16="http://schemas.microsoft.com/office/drawing/2014/main" id="{DF2B5602-0F8D-4A4D-8710-6AD3082F4FA3}"/>
              </a:ext>
            </a:extLst>
          </p:cNvPr>
          <p:cNvSpPr>
            <a:spLocks noGrp="1"/>
          </p:cNvSpPr>
          <p:nvPr/>
        </p:nvSpPr>
        <p:spPr>
          <a:xfrm>
            <a:off x="2486025" y="2171700"/>
            <a:ext cx="904875" cy="49530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XUV</a:t>
            </a:r>
          </a:p>
        </p:txBody>
      </p:sp>
      <p:sp>
        <p:nvSpPr>
          <p:cNvPr id="10" name="table-r0-c2">
            <a:extLst>
              <a:ext uri="{FF2B5EF4-FFF2-40B4-BE49-F238E27FC236}">
                <a16:creationId xmlns:a16="http://schemas.microsoft.com/office/drawing/2014/main" id="{7D9FC074-F471-4CA2-A18A-AC727B69D8B0}"/>
              </a:ext>
            </a:extLst>
          </p:cNvPr>
          <p:cNvSpPr>
            <a:spLocks noGrp="1"/>
          </p:cNvSpPr>
          <p:nvPr/>
        </p:nvSpPr>
        <p:spPr>
          <a:xfrm>
            <a:off x="3390900" y="2171700"/>
            <a:ext cx="904875" cy="49530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He</a:t>
            </a:r>
          </a:p>
        </p:txBody>
      </p:sp>
      <p:sp>
        <p:nvSpPr>
          <p:cNvPr id="11" name="table-r0-c3">
            <a:extLst>
              <a:ext uri="{FF2B5EF4-FFF2-40B4-BE49-F238E27FC236}">
                <a16:creationId xmlns:a16="http://schemas.microsoft.com/office/drawing/2014/main" id="{3DE59B14-899E-4AD5-9D06-687E872843C5}"/>
              </a:ext>
            </a:extLst>
          </p:cNvPr>
          <p:cNvSpPr>
            <a:spLocks noGrp="1"/>
          </p:cNvSpPr>
          <p:nvPr/>
        </p:nvSpPr>
        <p:spPr>
          <a:xfrm>
            <a:off x="4295775" y="2171700"/>
            <a:ext cx="1047750" cy="49530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logMsw</a:t>
            </a:r>
          </a:p>
        </p:txBody>
      </p:sp>
      <p:sp>
        <p:nvSpPr>
          <p:cNvPr id="12" name="table-r0-c4">
            <a:extLst>
              <a:ext uri="{FF2B5EF4-FFF2-40B4-BE49-F238E27FC236}">
                <a16:creationId xmlns:a16="http://schemas.microsoft.com/office/drawing/2014/main" id="{7D5AE101-C01D-4E64-81F4-074DCFE917C4}"/>
              </a:ext>
            </a:extLst>
          </p:cNvPr>
          <p:cNvSpPr>
            <a:spLocks noGrp="1"/>
          </p:cNvSpPr>
          <p:nvPr/>
        </p:nvSpPr>
        <p:spPr>
          <a:xfrm>
            <a:off x="5343525" y="2171700"/>
            <a:ext cx="1047750" cy="495300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H2a AUC</a:t>
            </a:r>
          </a:p>
        </p:txBody>
      </p:sp>
      <p:sp>
        <p:nvSpPr>
          <p:cNvPr id="14" name="table-r1-c0">
            <a:extLst>
              <a:ext uri="{FF2B5EF4-FFF2-40B4-BE49-F238E27FC236}">
                <a16:creationId xmlns:a16="http://schemas.microsoft.com/office/drawing/2014/main" id="{8BBF2273-5A6F-4963-8CEF-8922CDC55282}"/>
              </a:ext>
            </a:extLst>
          </p:cNvPr>
          <p:cNvSpPr>
            <a:spLocks noGrp="1"/>
          </p:cNvSpPr>
          <p:nvPr/>
        </p:nvSpPr>
        <p:spPr>
          <a:xfrm>
            <a:off x="390525" y="2667000"/>
            <a:ext cx="2095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Gradient Boosting</a:t>
            </a:r>
          </a:p>
        </p:txBody>
      </p:sp>
      <p:sp>
        <p:nvSpPr>
          <p:cNvPr id="15" name="table-r1-c1">
            <a:extLst>
              <a:ext uri="{FF2B5EF4-FFF2-40B4-BE49-F238E27FC236}">
                <a16:creationId xmlns:a16="http://schemas.microsoft.com/office/drawing/2014/main" id="{7F2B9055-6307-4B69-86E7-A1B743048A81}"/>
              </a:ext>
            </a:extLst>
          </p:cNvPr>
          <p:cNvSpPr>
            <a:spLocks noGrp="1"/>
          </p:cNvSpPr>
          <p:nvPr/>
        </p:nvSpPr>
        <p:spPr>
          <a:xfrm>
            <a:off x="2486025" y="2667000"/>
            <a:ext cx="904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63.8</a:t>
            </a:r>
          </a:p>
        </p:txBody>
      </p:sp>
      <p:sp>
        <p:nvSpPr>
          <p:cNvPr id="16" name="table-r1-c2">
            <a:extLst>
              <a:ext uri="{FF2B5EF4-FFF2-40B4-BE49-F238E27FC236}">
                <a16:creationId xmlns:a16="http://schemas.microsoft.com/office/drawing/2014/main" id="{629CD54C-DB32-45C5-BA9E-38681347C00B}"/>
              </a:ext>
            </a:extLst>
          </p:cNvPr>
          <p:cNvSpPr>
            <a:spLocks noGrp="1"/>
          </p:cNvSpPr>
          <p:nvPr/>
        </p:nvSpPr>
        <p:spPr>
          <a:xfrm>
            <a:off x="3390900" y="2667000"/>
            <a:ext cx="904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78.9</a:t>
            </a:r>
          </a:p>
        </p:txBody>
      </p:sp>
      <p:sp>
        <p:nvSpPr>
          <p:cNvPr id="17" name="table-r1-c3">
            <a:extLst>
              <a:ext uri="{FF2B5EF4-FFF2-40B4-BE49-F238E27FC236}">
                <a16:creationId xmlns:a16="http://schemas.microsoft.com/office/drawing/2014/main" id="{5AF5ED9B-DB87-4793-A7B9-48D08EFF04C2}"/>
              </a:ext>
            </a:extLst>
          </p:cNvPr>
          <p:cNvSpPr>
            <a:spLocks noGrp="1"/>
          </p:cNvSpPr>
          <p:nvPr/>
        </p:nvSpPr>
        <p:spPr>
          <a:xfrm>
            <a:off x="4295775" y="266700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2.2</a:t>
            </a:r>
          </a:p>
        </p:txBody>
      </p:sp>
      <p:sp>
        <p:nvSpPr>
          <p:cNvPr id="18" name="table-r1-c4">
            <a:extLst>
              <a:ext uri="{FF2B5EF4-FFF2-40B4-BE49-F238E27FC236}">
                <a16:creationId xmlns:a16="http://schemas.microsoft.com/office/drawing/2014/main" id="{52ECDED0-6228-4DFF-9C85-C9C689E4ECCC}"/>
              </a:ext>
            </a:extLst>
          </p:cNvPr>
          <p:cNvSpPr>
            <a:spLocks noGrp="1"/>
          </p:cNvSpPr>
          <p:nvPr/>
        </p:nvSpPr>
        <p:spPr>
          <a:xfrm>
            <a:off x="5343525" y="266700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0.892</a:t>
            </a:r>
          </a:p>
        </p:txBody>
      </p:sp>
      <p:sp>
        <p:nvSpPr>
          <p:cNvPr id="20" name="table-r2-c0">
            <a:extLst>
              <a:ext uri="{FF2B5EF4-FFF2-40B4-BE49-F238E27FC236}">
                <a16:creationId xmlns:a16="http://schemas.microsoft.com/office/drawing/2014/main" id="{43E5118E-32A3-49FB-B9F5-2FCF1CBDF224}"/>
              </a:ext>
            </a:extLst>
          </p:cNvPr>
          <p:cNvSpPr>
            <a:spLocks noGrp="1"/>
          </p:cNvSpPr>
          <p:nvPr/>
        </p:nvSpPr>
        <p:spPr>
          <a:xfrm>
            <a:off x="390525" y="3162300"/>
            <a:ext cx="2095500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Single-head CNN</a:t>
            </a:r>
          </a:p>
        </p:txBody>
      </p:sp>
      <p:sp>
        <p:nvSpPr>
          <p:cNvPr id="21" name="table-r2-c1">
            <a:extLst>
              <a:ext uri="{FF2B5EF4-FFF2-40B4-BE49-F238E27FC236}">
                <a16:creationId xmlns:a16="http://schemas.microsoft.com/office/drawing/2014/main" id="{8589440B-7B90-4188-910F-AA2549683149}"/>
              </a:ext>
            </a:extLst>
          </p:cNvPr>
          <p:cNvSpPr>
            <a:spLocks noGrp="1"/>
          </p:cNvSpPr>
          <p:nvPr/>
        </p:nvSpPr>
        <p:spPr>
          <a:xfrm>
            <a:off x="2486025" y="3162300"/>
            <a:ext cx="904875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22.1</a:t>
            </a:r>
          </a:p>
        </p:txBody>
      </p:sp>
      <p:sp>
        <p:nvSpPr>
          <p:cNvPr id="22" name="table-r2-c2">
            <a:extLst>
              <a:ext uri="{FF2B5EF4-FFF2-40B4-BE49-F238E27FC236}">
                <a16:creationId xmlns:a16="http://schemas.microsoft.com/office/drawing/2014/main" id="{C42D4C8A-A62A-44F2-9780-67C9B7A09B33}"/>
              </a:ext>
            </a:extLst>
          </p:cNvPr>
          <p:cNvSpPr>
            <a:spLocks noGrp="1"/>
          </p:cNvSpPr>
          <p:nvPr/>
        </p:nvSpPr>
        <p:spPr>
          <a:xfrm>
            <a:off x="3390900" y="3162300"/>
            <a:ext cx="904875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20.7</a:t>
            </a:r>
          </a:p>
        </p:txBody>
      </p:sp>
      <p:sp>
        <p:nvSpPr>
          <p:cNvPr id="23" name="table-r2-c3">
            <a:extLst>
              <a:ext uri="{FF2B5EF4-FFF2-40B4-BE49-F238E27FC236}">
                <a16:creationId xmlns:a16="http://schemas.microsoft.com/office/drawing/2014/main" id="{58641280-3210-45D2-927A-9D988BDFCA37}"/>
              </a:ext>
            </a:extLst>
          </p:cNvPr>
          <p:cNvSpPr>
            <a:spLocks noGrp="1"/>
          </p:cNvSpPr>
          <p:nvPr/>
        </p:nvSpPr>
        <p:spPr>
          <a:xfrm>
            <a:off x="4295775" y="3162300"/>
            <a:ext cx="1047750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1.3</a:t>
            </a:r>
          </a:p>
        </p:txBody>
      </p:sp>
      <p:sp>
        <p:nvSpPr>
          <p:cNvPr id="24" name="table-r2-c4">
            <a:extLst>
              <a:ext uri="{FF2B5EF4-FFF2-40B4-BE49-F238E27FC236}">
                <a16:creationId xmlns:a16="http://schemas.microsoft.com/office/drawing/2014/main" id="{B58902D0-4F62-41C5-9229-A06D7F636DAA}"/>
              </a:ext>
            </a:extLst>
          </p:cNvPr>
          <p:cNvSpPr>
            <a:spLocks noGrp="1"/>
          </p:cNvSpPr>
          <p:nvPr/>
        </p:nvSpPr>
        <p:spPr>
          <a:xfrm>
            <a:off x="5343525" y="3162300"/>
            <a:ext cx="1047750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0.996</a:t>
            </a:r>
          </a:p>
        </p:txBody>
      </p:sp>
      <p:sp>
        <p:nvSpPr>
          <p:cNvPr id="26" name="table-r3-c0">
            <a:extLst>
              <a:ext uri="{FF2B5EF4-FFF2-40B4-BE49-F238E27FC236}">
                <a16:creationId xmlns:a16="http://schemas.microsoft.com/office/drawing/2014/main" id="{E47C54A8-9257-4E02-8FB7-BAA811C56F12}"/>
              </a:ext>
            </a:extLst>
          </p:cNvPr>
          <p:cNvSpPr>
            <a:spLocks noGrp="1"/>
          </p:cNvSpPr>
          <p:nvPr/>
        </p:nvSpPr>
        <p:spPr>
          <a:xfrm>
            <a:off x="390525" y="3657600"/>
            <a:ext cx="2095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Paper A · best-5</a:t>
            </a:r>
          </a:p>
        </p:txBody>
      </p:sp>
      <p:sp>
        <p:nvSpPr>
          <p:cNvPr id="27" name="table-r3-c1">
            <a:extLst>
              <a:ext uri="{FF2B5EF4-FFF2-40B4-BE49-F238E27FC236}">
                <a16:creationId xmlns:a16="http://schemas.microsoft.com/office/drawing/2014/main" id="{F3F94F82-50D6-4CDA-A9DD-F6F51087EB2E}"/>
              </a:ext>
            </a:extLst>
          </p:cNvPr>
          <p:cNvSpPr>
            <a:spLocks noGrp="1"/>
          </p:cNvSpPr>
          <p:nvPr/>
        </p:nvSpPr>
        <p:spPr>
          <a:xfrm>
            <a:off x="2486025" y="3657600"/>
            <a:ext cx="904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15.1</a:t>
            </a:r>
          </a:p>
        </p:txBody>
      </p:sp>
      <p:sp>
        <p:nvSpPr>
          <p:cNvPr id="28" name="table-r3-c2">
            <a:extLst>
              <a:ext uri="{FF2B5EF4-FFF2-40B4-BE49-F238E27FC236}">
                <a16:creationId xmlns:a16="http://schemas.microsoft.com/office/drawing/2014/main" id="{E7C822E5-7231-41B9-96FD-2337F9870545}"/>
              </a:ext>
            </a:extLst>
          </p:cNvPr>
          <p:cNvSpPr>
            <a:spLocks noGrp="1"/>
          </p:cNvSpPr>
          <p:nvPr/>
        </p:nvSpPr>
        <p:spPr>
          <a:xfrm>
            <a:off x="3390900" y="3657600"/>
            <a:ext cx="904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12.4</a:t>
            </a:r>
          </a:p>
        </p:txBody>
      </p:sp>
      <p:sp>
        <p:nvSpPr>
          <p:cNvPr id="29" name="table-r3-c3">
            <a:extLst>
              <a:ext uri="{FF2B5EF4-FFF2-40B4-BE49-F238E27FC236}">
                <a16:creationId xmlns:a16="http://schemas.microsoft.com/office/drawing/2014/main" id="{1D85E252-C22D-456A-A7EE-6C753151ED94}"/>
              </a:ext>
            </a:extLst>
          </p:cNvPr>
          <p:cNvSpPr>
            <a:spLocks noGrp="1"/>
          </p:cNvSpPr>
          <p:nvPr/>
        </p:nvSpPr>
        <p:spPr>
          <a:xfrm>
            <a:off x="4295775" y="365760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0.8</a:t>
            </a:r>
          </a:p>
        </p:txBody>
      </p:sp>
      <p:sp>
        <p:nvSpPr>
          <p:cNvPr id="30" name="table-r3-c4">
            <a:extLst>
              <a:ext uri="{FF2B5EF4-FFF2-40B4-BE49-F238E27FC236}">
                <a16:creationId xmlns:a16="http://schemas.microsoft.com/office/drawing/2014/main" id="{FA0AA34E-A1C0-4176-A761-655C0B7EBEB5}"/>
              </a:ext>
            </a:extLst>
          </p:cNvPr>
          <p:cNvSpPr>
            <a:spLocks noGrp="1"/>
          </p:cNvSpPr>
          <p:nvPr/>
        </p:nvSpPr>
        <p:spPr>
          <a:xfrm>
            <a:off x="5343525" y="365760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0.980</a:t>
            </a:r>
          </a:p>
        </p:txBody>
      </p:sp>
      <p:sp>
        <p:nvSpPr>
          <p:cNvPr id="32" name="table-r4-c0">
            <a:extLst>
              <a:ext uri="{FF2B5EF4-FFF2-40B4-BE49-F238E27FC236}">
                <a16:creationId xmlns:a16="http://schemas.microsoft.com/office/drawing/2014/main" id="{7AE0DE71-20B9-44CC-B156-5E6D403E741C}"/>
              </a:ext>
            </a:extLst>
          </p:cNvPr>
          <p:cNvSpPr>
            <a:spLocks noGrp="1"/>
          </p:cNvSpPr>
          <p:nvPr/>
        </p:nvSpPr>
        <p:spPr>
          <a:xfrm>
            <a:off x="390525" y="4152900"/>
            <a:ext cx="2095500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Main B · best-5</a:t>
            </a:r>
          </a:p>
        </p:txBody>
      </p:sp>
      <p:sp>
        <p:nvSpPr>
          <p:cNvPr id="33" name="table-r4-c1">
            <a:extLst>
              <a:ext uri="{FF2B5EF4-FFF2-40B4-BE49-F238E27FC236}">
                <a16:creationId xmlns:a16="http://schemas.microsoft.com/office/drawing/2014/main" id="{D309911C-1E6D-43BD-8E98-44A89D09C412}"/>
              </a:ext>
            </a:extLst>
          </p:cNvPr>
          <p:cNvSpPr>
            <a:spLocks noGrp="1"/>
          </p:cNvSpPr>
          <p:nvPr/>
        </p:nvSpPr>
        <p:spPr>
          <a:xfrm>
            <a:off x="2486025" y="4152900"/>
            <a:ext cx="904875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10.8</a:t>
            </a:r>
          </a:p>
        </p:txBody>
      </p:sp>
      <p:sp>
        <p:nvSpPr>
          <p:cNvPr id="34" name="table-r4-c2">
            <a:extLst>
              <a:ext uri="{FF2B5EF4-FFF2-40B4-BE49-F238E27FC236}">
                <a16:creationId xmlns:a16="http://schemas.microsoft.com/office/drawing/2014/main" id="{3376CAE9-7C39-44E5-8E84-30B3FB0216DC}"/>
              </a:ext>
            </a:extLst>
          </p:cNvPr>
          <p:cNvSpPr>
            <a:spLocks noGrp="1"/>
          </p:cNvSpPr>
          <p:nvPr/>
        </p:nvSpPr>
        <p:spPr>
          <a:xfrm>
            <a:off x="3390900" y="4152900"/>
            <a:ext cx="904875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9.7</a:t>
            </a:r>
          </a:p>
        </p:txBody>
      </p:sp>
      <p:sp>
        <p:nvSpPr>
          <p:cNvPr id="35" name="table-r4-c3">
            <a:extLst>
              <a:ext uri="{FF2B5EF4-FFF2-40B4-BE49-F238E27FC236}">
                <a16:creationId xmlns:a16="http://schemas.microsoft.com/office/drawing/2014/main" id="{E3C58C6A-ED57-4769-BE50-4583F3AEED62}"/>
              </a:ext>
            </a:extLst>
          </p:cNvPr>
          <p:cNvSpPr>
            <a:spLocks noGrp="1"/>
          </p:cNvSpPr>
          <p:nvPr/>
        </p:nvSpPr>
        <p:spPr>
          <a:xfrm>
            <a:off x="4295775" y="4152900"/>
            <a:ext cx="1047750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0.6</a:t>
            </a:r>
          </a:p>
        </p:txBody>
      </p:sp>
      <p:sp>
        <p:nvSpPr>
          <p:cNvPr id="36" name="table-r4-c4">
            <a:extLst>
              <a:ext uri="{FF2B5EF4-FFF2-40B4-BE49-F238E27FC236}">
                <a16:creationId xmlns:a16="http://schemas.microsoft.com/office/drawing/2014/main" id="{49F77625-45F4-4DC8-A290-CAA785B2D0F3}"/>
              </a:ext>
            </a:extLst>
          </p:cNvPr>
          <p:cNvSpPr>
            <a:spLocks noGrp="1"/>
          </p:cNvSpPr>
          <p:nvPr/>
        </p:nvSpPr>
        <p:spPr>
          <a:xfrm>
            <a:off x="5343525" y="4152900"/>
            <a:ext cx="1047750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0.995</a:t>
            </a:r>
          </a:p>
        </p:txBody>
      </p:sp>
      <p:sp>
        <p:nvSpPr>
          <p:cNvPr id="38" name="table-r5-c0">
            <a:extLst>
              <a:ext uri="{FF2B5EF4-FFF2-40B4-BE49-F238E27FC236}">
                <a16:creationId xmlns:a16="http://schemas.microsoft.com/office/drawing/2014/main" id="{9E35B555-D6DB-43BF-939E-3B0176FC16FA}"/>
              </a:ext>
            </a:extLst>
          </p:cNvPr>
          <p:cNvSpPr>
            <a:spLocks noGrp="1"/>
          </p:cNvSpPr>
          <p:nvPr/>
        </p:nvSpPr>
        <p:spPr>
          <a:xfrm>
            <a:off x="390525" y="4648200"/>
            <a:ext cx="2095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TCN · best-5</a:t>
            </a:r>
          </a:p>
        </p:txBody>
      </p:sp>
      <p:sp>
        <p:nvSpPr>
          <p:cNvPr id="39" name="table-r5-c1">
            <a:extLst>
              <a:ext uri="{FF2B5EF4-FFF2-40B4-BE49-F238E27FC236}">
                <a16:creationId xmlns:a16="http://schemas.microsoft.com/office/drawing/2014/main" id="{5C425E97-188C-478F-8597-A15E6A265F55}"/>
              </a:ext>
            </a:extLst>
          </p:cNvPr>
          <p:cNvSpPr>
            <a:spLocks noGrp="1"/>
          </p:cNvSpPr>
          <p:nvPr/>
        </p:nvSpPr>
        <p:spPr>
          <a:xfrm>
            <a:off x="2486025" y="4648200"/>
            <a:ext cx="904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16.9</a:t>
            </a:r>
          </a:p>
        </p:txBody>
      </p:sp>
      <p:sp>
        <p:nvSpPr>
          <p:cNvPr id="40" name="table-r5-c2">
            <a:extLst>
              <a:ext uri="{FF2B5EF4-FFF2-40B4-BE49-F238E27FC236}">
                <a16:creationId xmlns:a16="http://schemas.microsoft.com/office/drawing/2014/main" id="{513C95FE-E047-48DC-A6BF-0521EA02257A}"/>
              </a:ext>
            </a:extLst>
          </p:cNvPr>
          <p:cNvSpPr>
            <a:spLocks noGrp="1"/>
          </p:cNvSpPr>
          <p:nvPr/>
        </p:nvSpPr>
        <p:spPr>
          <a:xfrm>
            <a:off x="3390900" y="4648200"/>
            <a:ext cx="904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11.3</a:t>
            </a:r>
          </a:p>
        </p:txBody>
      </p:sp>
      <p:sp>
        <p:nvSpPr>
          <p:cNvPr id="41" name="table-r5-c3">
            <a:extLst>
              <a:ext uri="{FF2B5EF4-FFF2-40B4-BE49-F238E27FC236}">
                <a16:creationId xmlns:a16="http://schemas.microsoft.com/office/drawing/2014/main" id="{3E9209AA-5860-44B4-92B7-1E4E1D040951}"/>
              </a:ext>
            </a:extLst>
          </p:cNvPr>
          <p:cNvSpPr>
            <a:spLocks noGrp="1"/>
          </p:cNvSpPr>
          <p:nvPr/>
        </p:nvSpPr>
        <p:spPr>
          <a:xfrm>
            <a:off x="4295775" y="464820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0.8</a:t>
            </a:r>
          </a:p>
        </p:txBody>
      </p:sp>
      <p:sp>
        <p:nvSpPr>
          <p:cNvPr id="42" name="table-r5-c4">
            <a:extLst>
              <a:ext uri="{FF2B5EF4-FFF2-40B4-BE49-F238E27FC236}">
                <a16:creationId xmlns:a16="http://schemas.microsoft.com/office/drawing/2014/main" id="{E2C022CE-A724-4322-B7B8-9AF6AAAC417E}"/>
              </a:ext>
            </a:extLst>
          </p:cNvPr>
          <p:cNvSpPr>
            <a:spLocks noGrp="1"/>
          </p:cNvSpPr>
          <p:nvPr/>
        </p:nvSpPr>
        <p:spPr>
          <a:xfrm>
            <a:off x="5343525" y="464820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0.981</a:t>
            </a:r>
          </a:p>
        </p:txBody>
      </p:sp>
      <p:sp>
        <p:nvSpPr>
          <p:cNvPr id="44" name="table-r6-c0">
            <a:extLst>
              <a:ext uri="{FF2B5EF4-FFF2-40B4-BE49-F238E27FC236}">
                <a16:creationId xmlns:a16="http://schemas.microsoft.com/office/drawing/2014/main" id="{39021826-4A17-49F0-A8FE-C45A293EF9D1}"/>
              </a:ext>
            </a:extLst>
          </p:cNvPr>
          <p:cNvSpPr>
            <a:spLocks noGrp="1"/>
          </p:cNvSpPr>
          <p:nvPr/>
        </p:nvSpPr>
        <p:spPr>
          <a:xfrm>
            <a:off x="390525" y="5143500"/>
            <a:ext cx="2095500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Inception · best-5</a:t>
            </a:r>
          </a:p>
        </p:txBody>
      </p:sp>
      <p:sp>
        <p:nvSpPr>
          <p:cNvPr id="45" name="table-r6-c1">
            <a:extLst>
              <a:ext uri="{FF2B5EF4-FFF2-40B4-BE49-F238E27FC236}">
                <a16:creationId xmlns:a16="http://schemas.microsoft.com/office/drawing/2014/main" id="{923657B1-D0EF-45D1-B57A-BB91F32A4087}"/>
              </a:ext>
            </a:extLst>
          </p:cNvPr>
          <p:cNvSpPr>
            <a:spLocks noGrp="1"/>
          </p:cNvSpPr>
          <p:nvPr/>
        </p:nvSpPr>
        <p:spPr>
          <a:xfrm>
            <a:off x="2486025" y="5143500"/>
            <a:ext cx="904875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10.9</a:t>
            </a:r>
          </a:p>
        </p:txBody>
      </p:sp>
      <p:sp>
        <p:nvSpPr>
          <p:cNvPr id="46" name="table-r6-c2">
            <a:extLst>
              <a:ext uri="{FF2B5EF4-FFF2-40B4-BE49-F238E27FC236}">
                <a16:creationId xmlns:a16="http://schemas.microsoft.com/office/drawing/2014/main" id="{F4CE1B05-E9BF-4CBC-BB85-DDA14B0D7EB8}"/>
              </a:ext>
            </a:extLst>
          </p:cNvPr>
          <p:cNvSpPr>
            <a:spLocks noGrp="1"/>
          </p:cNvSpPr>
          <p:nvPr/>
        </p:nvSpPr>
        <p:spPr>
          <a:xfrm>
            <a:off x="3390900" y="5143500"/>
            <a:ext cx="904875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8.8</a:t>
            </a:r>
          </a:p>
        </p:txBody>
      </p:sp>
      <p:sp>
        <p:nvSpPr>
          <p:cNvPr id="47" name="table-r6-c3">
            <a:extLst>
              <a:ext uri="{FF2B5EF4-FFF2-40B4-BE49-F238E27FC236}">
                <a16:creationId xmlns:a16="http://schemas.microsoft.com/office/drawing/2014/main" id="{732B23BD-682B-46EC-9545-1A6B0DB31E33}"/>
              </a:ext>
            </a:extLst>
          </p:cNvPr>
          <p:cNvSpPr>
            <a:spLocks noGrp="1"/>
          </p:cNvSpPr>
          <p:nvPr/>
        </p:nvSpPr>
        <p:spPr>
          <a:xfrm>
            <a:off x="4295775" y="5143500"/>
            <a:ext cx="1047750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0.7</a:t>
            </a:r>
          </a:p>
        </p:txBody>
      </p:sp>
      <p:sp>
        <p:nvSpPr>
          <p:cNvPr id="48" name="table-r6-c4">
            <a:extLst>
              <a:ext uri="{FF2B5EF4-FFF2-40B4-BE49-F238E27FC236}">
                <a16:creationId xmlns:a16="http://schemas.microsoft.com/office/drawing/2014/main" id="{4040FCD7-08CA-4710-956D-7ED564E607B9}"/>
              </a:ext>
            </a:extLst>
          </p:cNvPr>
          <p:cNvSpPr>
            <a:spLocks noGrp="1"/>
          </p:cNvSpPr>
          <p:nvPr/>
        </p:nvSpPr>
        <p:spPr>
          <a:xfrm>
            <a:off x="5343525" y="5143500"/>
            <a:ext cx="1047750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0.982</a:t>
            </a:r>
          </a:p>
        </p:txBody>
      </p:sp>
      <p:sp>
        <p:nvSpPr>
          <p:cNvPr id="50" name="table-r7-c0">
            <a:extLst>
              <a:ext uri="{FF2B5EF4-FFF2-40B4-BE49-F238E27FC236}">
                <a16:creationId xmlns:a16="http://schemas.microsoft.com/office/drawing/2014/main" id="{808265D4-9181-4CF1-827A-D9CC132BB6CC}"/>
              </a:ext>
            </a:extLst>
          </p:cNvPr>
          <p:cNvSpPr>
            <a:spLocks noGrp="1"/>
          </p:cNvSpPr>
          <p:nvPr/>
        </p:nvSpPr>
        <p:spPr>
          <a:xfrm>
            <a:off x="390525" y="5638800"/>
            <a:ext cx="2095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Conditioning · best-5</a:t>
            </a:r>
          </a:p>
        </p:txBody>
      </p:sp>
      <p:sp>
        <p:nvSpPr>
          <p:cNvPr id="51" name="table-r7-c1">
            <a:extLst>
              <a:ext uri="{FF2B5EF4-FFF2-40B4-BE49-F238E27FC236}">
                <a16:creationId xmlns:a16="http://schemas.microsoft.com/office/drawing/2014/main" id="{1963A927-EF6D-40AC-8A1B-454C5A787F79}"/>
              </a:ext>
            </a:extLst>
          </p:cNvPr>
          <p:cNvSpPr>
            <a:spLocks noGrp="1"/>
          </p:cNvSpPr>
          <p:nvPr/>
        </p:nvSpPr>
        <p:spPr>
          <a:xfrm>
            <a:off x="2486025" y="5638800"/>
            <a:ext cx="904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9.8</a:t>
            </a:r>
          </a:p>
        </p:txBody>
      </p:sp>
      <p:sp>
        <p:nvSpPr>
          <p:cNvPr id="52" name="table-r7-c2">
            <a:extLst>
              <a:ext uri="{FF2B5EF4-FFF2-40B4-BE49-F238E27FC236}">
                <a16:creationId xmlns:a16="http://schemas.microsoft.com/office/drawing/2014/main" id="{CDB05E07-CC97-4734-9B53-F773AF1904D1}"/>
              </a:ext>
            </a:extLst>
          </p:cNvPr>
          <p:cNvSpPr>
            <a:spLocks noGrp="1"/>
          </p:cNvSpPr>
          <p:nvPr/>
        </p:nvSpPr>
        <p:spPr>
          <a:xfrm>
            <a:off x="3390900" y="5638800"/>
            <a:ext cx="904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8.9</a:t>
            </a:r>
          </a:p>
        </p:txBody>
      </p:sp>
      <p:sp>
        <p:nvSpPr>
          <p:cNvPr id="53" name="table-r7-c3">
            <a:extLst>
              <a:ext uri="{FF2B5EF4-FFF2-40B4-BE49-F238E27FC236}">
                <a16:creationId xmlns:a16="http://schemas.microsoft.com/office/drawing/2014/main" id="{FAAF2B45-F131-4C1B-88C3-C66293562311}"/>
              </a:ext>
            </a:extLst>
          </p:cNvPr>
          <p:cNvSpPr>
            <a:spLocks noGrp="1"/>
          </p:cNvSpPr>
          <p:nvPr/>
        </p:nvSpPr>
        <p:spPr>
          <a:xfrm>
            <a:off x="4295775" y="563880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0.5</a:t>
            </a:r>
          </a:p>
        </p:txBody>
      </p:sp>
      <p:sp>
        <p:nvSpPr>
          <p:cNvPr id="54" name="table-r7-c4">
            <a:extLst>
              <a:ext uri="{FF2B5EF4-FFF2-40B4-BE49-F238E27FC236}">
                <a16:creationId xmlns:a16="http://schemas.microsoft.com/office/drawing/2014/main" id="{371B3D8C-EF32-4469-B19D-1AE6FB3C61D6}"/>
              </a:ext>
            </a:extLst>
          </p:cNvPr>
          <p:cNvSpPr>
            <a:spLocks noGrp="1"/>
          </p:cNvSpPr>
          <p:nvPr/>
        </p:nvSpPr>
        <p:spPr>
          <a:xfrm>
            <a:off x="5343525" y="5638800"/>
            <a:ext cx="1047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0.998</a:t>
            </a:r>
          </a:p>
        </p:txBody>
      </p:sp>
    </p:spTree>
    <p:extLst>
      <p:ext uri="{BB962C8B-B14F-4D97-AF65-F5344CB8AC3E}">
        <p14:creationId xmlns:p14="http://schemas.microsoft.com/office/powerpoint/2010/main" val="176031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-Shape-532-p58-2">
            <a:extLst>
              <a:ext uri="{FF2B5EF4-FFF2-40B4-BE49-F238E27FC236}">
                <a16:creationId xmlns:a16="http://schemas.microsoft.com/office/drawing/2014/main" id="{98921AA2-2137-4E90-BDD3-43462E3FC8CB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A1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3EC9FA58-8B0A-4556-B2EF-C789B69C179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Приложение A · точные параметры модели и обучения</a:t>
            </a:r>
          </a:p>
        </p:txBody>
      </p:sp>
      <p:graphicFrame>
        <p:nvGraphicFramePr>
          <p:cNvPr id="45" name="Google-Shape-644-p93-5"/>
          <p:cNvGraphicFramePr/>
          <p:nvPr/>
        </p:nvGraphicFramePr>
        <p:xfrm>
          <a:off x="393668" y="2251043"/>
          <a:ext cx="11404567" cy="3932586"/>
        </p:xfrm>
        <a:graphic>
          <a:graphicData uri="http://schemas.openxmlformats.org/drawingml/2006/table">
            <a:tbl>
              <a:tblPr/>
              <a:tblGrid>
                <a:gridCol w="3906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appendix-table-cover">
            <a:extLst>
              <a:ext uri="{FF2B5EF4-FFF2-40B4-BE49-F238E27FC236}">
                <a16:creationId xmlns:a16="http://schemas.microsoft.com/office/drawing/2014/main" id="{BE1D64BF-3A9F-4057-90CD-A5DBF8CBFD77}"/>
              </a:ext>
            </a:extLst>
          </p:cNvPr>
          <p:cNvSpPr>
            <a:spLocks noGrp="1"/>
          </p:cNvSpPr>
          <p:nvPr/>
        </p:nvSpPr>
        <p:spPr>
          <a:xfrm>
            <a:off x="342900" y="2114550"/>
            <a:ext cx="11506200" cy="41148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table-r0-c0">
            <a:extLst>
              <a:ext uri="{FF2B5EF4-FFF2-40B4-BE49-F238E27FC236}">
                <a16:creationId xmlns:a16="http://schemas.microsoft.com/office/drawing/2014/main" id="{19BDB251-F0C5-4C96-99E5-AB6A2C2C313F}"/>
              </a:ext>
            </a:extLst>
          </p:cNvPr>
          <p:cNvSpPr>
            <a:spLocks noGrp="1"/>
          </p:cNvSpPr>
          <p:nvPr/>
        </p:nvSpPr>
        <p:spPr>
          <a:xfrm>
            <a:off x="390525" y="2171700"/>
            <a:ext cx="1619250" cy="440267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Блок</a:t>
            </a:r>
          </a:p>
        </p:txBody>
      </p:sp>
      <p:sp>
        <p:nvSpPr>
          <p:cNvPr id="7" name="table-r0-c1">
            <a:extLst>
              <a:ext uri="{FF2B5EF4-FFF2-40B4-BE49-F238E27FC236}">
                <a16:creationId xmlns:a16="http://schemas.microsoft.com/office/drawing/2014/main" id="{A6A2EAD6-0EB6-446A-9AF2-25A45CBE7251}"/>
              </a:ext>
            </a:extLst>
          </p:cNvPr>
          <p:cNvSpPr>
            <a:spLocks noGrp="1"/>
          </p:cNvSpPr>
          <p:nvPr/>
        </p:nvSpPr>
        <p:spPr>
          <a:xfrm>
            <a:off x="2009775" y="2171700"/>
            <a:ext cx="2428875" cy="440267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Параметр</a:t>
            </a:r>
          </a:p>
        </p:txBody>
      </p:sp>
      <p:sp>
        <p:nvSpPr>
          <p:cNvPr id="8" name="table-r0-c2">
            <a:extLst>
              <a:ext uri="{FF2B5EF4-FFF2-40B4-BE49-F238E27FC236}">
                <a16:creationId xmlns:a16="http://schemas.microsoft.com/office/drawing/2014/main" id="{3835018D-F526-49E7-A662-6D4D16DD3CD8}"/>
              </a:ext>
            </a:extLst>
          </p:cNvPr>
          <p:cNvSpPr>
            <a:spLocks noGrp="1"/>
          </p:cNvSpPr>
          <p:nvPr/>
        </p:nvSpPr>
        <p:spPr>
          <a:xfrm>
            <a:off x="4438650" y="2171700"/>
            <a:ext cx="3429000" cy="440267"/>
          </a:xfrm>
          <a:prstGeom prst="rect">
            <a:avLst/>
          </a:prstGeom>
          <a:solidFill>
            <a:srgbClr val="000000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Значение</a:t>
            </a:r>
          </a:p>
        </p:txBody>
      </p:sp>
      <p:sp>
        <p:nvSpPr>
          <p:cNvPr id="10" name="table-r1-c0">
            <a:extLst>
              <a:ext uri="{FF2B5EF4-FFF2-40B4-BE49-F238E27FC236}">
                <a16:creationId xmlns:a16="http://schemas.microsoft.com/office/drawing/2014/main" id="{32335DC4-0EB6-483B-8601-3585B5D30908}"/>
              </a:ext>
            </a:extLst>
          </p:cNvPr>
          <p:cNvSpPr>
            <a:spLocks noGrp="1"/>
          </p:cNvSpPr>
          <p:nvPr/>
        </p:nvSpPr>
        <p:spPr>
          <a:xfrm>
            <a:off x="390525" y="2611967"/>
            <a:ext cx="1619250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Вход</a:t>
            </a:r>
          </a:p>
        </p:txBody>
      </p:sp>
      <p:sp>
        <p:nvSpPr>
          <p:cNvPr id="11" name="table-r1-c1">
            <a:extLst>
              <a:ext uri="{FF2B5EF4-FFF2-40B4-BE49-F238E27FC236}">
                <a16:creationId xmlns:a16="http://schemas.microsoft.com/office/drawing/2014/main" id="{0E2CBE80-6F15-4991-8633-008257E230FF}"/>
              </a:ext>
            </a:extLst>
          </p:cNvPr>
          <p:cNvSpPr>
            <a:spLocks noGrp="1"/>
          </p:cNvSpPr>
          <p:nvPr/>
        </p:nvSpPr>
        <p:spPr>
          <a:xfrm>
            <a:off x="2009775" y="2611967"/>
            <a:ext cx="2428875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Каналы × длина</a:t>
            </a:r>
          </a:p>
        </p:txBody>
      </p:sp>
      <p:sp>
        <p:nvSpPr>
          <p:cNvPr id="12" name="table-r1-c2">
            <a:extLst>
              <a:ext uri="{FF2B5EF4-FFF2-40B4-BE49-F238E27FC236}">
                <a16:creationId xmlns:a16="http://schemas.microsoft.com/office/drawing/2014/main" id="{61441C21-A752-40A4-97B7-4D092AD83A40}"/>
              </a:ext>
            </a:extLst>
          </p:cNvPr>
          <p:cNvSpPr>
            <a:spLocks noGrp="1"/>
          </p:cNvSpPr>
          <p:nvPr/>
        </p:nvSpPr>
        <p:spPr>
          <a:xfrm>
            <a:off x="4438650" y="2611967"/>
            <a:ext cx="3429000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 × 101</a:t>
            </a:r>
          </a:p>
        </p:txBody>
      </p:sp>
      <p:sp>
        <p:nvSpPr>
          <p:cNvPr id="14" name="table-r2-c0">
            <a:extLst>
              <a:ext uri="{FF2B5EF4-FFF2-40B4-BE49-F238E27FC236}">
                <a16:creationId xmlns:a16="http://schemas.microsoft.com/office/drawing/2014/main" id="{3DDE7C09-BB78-4ECD-978C-0D3054F21A12}"/>
              </a:ext>
            </a:extLst>
          </p:cNvPr>
          <p:cNvSpPr>
            <a:spLocks noGrp="1"/>
          </p:cNvSpPr>
          <p:nvPr/>
        </p:nvSpPr>
        <p:spPr>
          <a:xfrm>
            <a:off x="390525" y="3052233"/>
            <a:ext cx="1619250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Backbone</a:t>
            </a:r>
          </a:p>
        </p:txBody>
      </p:sp>
      <p:sp>
        <p:nvSpPr>
          <p:cNvPr id="15" name="table-r2-c1">
            <a:extLst>
              <a:ext uri="{FF2B5EF4-FFF2-40B4-BE49-F238E27FC236}">
                <a16:creationId xmlns:a16="http://schemas.microsoft.com/office/drawing/2014/main" id="{51D85E53-CDCE-47E8-989B-0B332D83EE6C}"/>
              </a:ext>
            </a:extLst>
          </p:cNvPr>
          <p:cNvSpPr>
            <a:spLocks noGrp="1"/>
          </p:cNvSpPr>
          <p:nvPr/>
        </p:nvSpPr>
        <p:spPr>
          <a:xfrm>
            <a:off x="2009775" y="3052233"/>
            <a:ext cx="2428875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Conv1d</a:t>
            </a:r>
          </a:p>
        </p:txBody>
      </p:sp>
      <p:sp>
        <p:nvSpPr>
          <p:cNvPr id="16" name="table-r2-c2">
            <a:extLst>
              <a:ext uri="{FF2B5EF4-FFF2-40B4-BE49-F238E27FC236}">
                <a16:creationId xmlns:a16="http://schemas.microsoft.com/office/drawing/2014/main" id="{2A1ED953-72DD-4FFD-8407-27B94DBD3259}"/>
              </a:ext>
            </a:extLst>
          </p:cNvPr>
          <p:cNvSpPr>
            <a:spLocks noGrp="1"/>
          </p:cNvSpPr>
          <p:nvPr/>
        </p:nvSpPr>
        <p:spPr>
          <a:xfrm>
            <a:off x="4438650" y="3052233"/>
            <a:ext cx="3429000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2→64→128→128, k=5</a:t>
            </a:r>
          </a:p>
        </p:txBody>
      </p:sp>
      <p:sp>
        <p:nvSpPr>
          <p:cNvPr id="18" name="table-r3-c0">
            <a:extLst>
              <a:ext uri="{FF2B5EF4-FFF2-40B4-BE49-F238E27FC236}">
                <a16:creationId xmlns:a16="http://schemas.microsoft.com/office/drawing/2014/main" id="{DCDFF85A-5680-4F49-B9AC-C31A60B26E2D}"/>
              </a:ext>
            </a:extLst>
          </p:cNvPr>
          <p:cNvSpPr>
            <a:spLocks noGrp="1"/>
          </p:cNvSpPr>
          <p:nvPr/>
        </p:nvSpPr>
        <p:spPr>
          <a:xfrm>
            <a:off x="390525" y="3492500"/>
            <a:ext cx="1619250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Heads</a:t>
            </a:r>
          </a:p>
        </p:txBody>
      </p:sp>
      <p:sp>
        <p:nvSpPr>
          <p:cNvPr id="19" name="table-r3-c1">
            <a:extLst>
              <a:ext uri="{FF2B5EF4-FFF2-40B4-BE49-F238E27FC236}">
                <a16:creationId xmlns:a16="http://schemas.microsoft.com/office/drawing/2014/main" id="{862569B5-2C6E-4827-997A-D88993D7AE45}"/>
              </a:ext>
            </a:extLst>
          </p:cNvPr>
          <p:cNvSpPr>
            <a:spLocks noGrp="1"/>
          </p:cNvSpPr>
          <p:nvPr/>
        </p:nvSpPr>
        <p:spPr>
          <a:xfrm>
            <a:off x="2009775" y="3492500"/>
            <a:ext cx="2428875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Регрессия</a:t>
            </a:r>
          </a:p>
        </p:txBody>
      </p:sp>
      <p:sp>
        <p:nvSpPr>
          <p:cNvPr id="20" name="table-r3-c2">
            <a:extLst>
              <a:ext uri="{FF2B5EF4-FFF2-40B4-BE49-F238E27FC236}">
                <a16:creationId xmlns:a16="http://schemas.microsoft.com/office/drawing/2014/main" id="{D02BFD2C-BDDE-48E0-8EBC-B68C399CBB41}"/>
              </a:ext>
            </a:extLst>
          </p:cNvPr>
          <p:cNvSpPr>
            <a:spLocks noGrp="1"/>
          </p:cNvSpPr>
          <p:nvPr/>
        </p:nvSpPr>
        <p:spPr>
          <a:xfrm>
            <a:off x="4438650" y="3492500"/>
            <a:ext cx="3429000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5 × (1536→256→3)</a:t>
            </a:r>
          </a:p>
        </p:txBody>
      </p:sp>
      <p:sp>
        <p:nvSpPr>
          <p:cNvPr id="22" name="table-r4-c0">
            <a:extLst>
              <a:ext uri="{FF2B5EF4-FFF2-40B4-BE49-F238E27FC236}">
                <a16:creationId xmlns:a16="http://schemas.microsoft.com/office/drawing/2014/main" id="{F4547F41-0A60-4A0C-ABF4-2A123784CDDF}"/>
              </a:ext>
            </a:extLst>
          </p:cNvPr>
          <p:cNvSpPr>
            <a:spLocks noGrp="1"/>
          </p:cNvSpPr>
          <p:nvPr/>
        </p:nvSpPr>
        <p:spPr>
          <a:xfrm>
            <a:off x="390525" y="3932767"/>
            <a:ext cx="1619250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H2a</a:t>
            </a:r>
          </a:p>
        </p:txBody>
      </p:sp>
      <p:sp>
        <p:nvSpPr>
          <p:cNvPr id="23" name="table-r4-c1">
            <a:extLst>
              <a:ext uri="{FF2B5EF4-FFF2-40B4-BE49-F238E27FC236}">
                <a16:creationId xmlns:a16="http://schemas.microsoft.com/office/drawing/2014/main" id="{459B1E0C-BCC0-445A-9A27-661AEE7296DE}"/>
              </a:ext>
            </a:extLst>
          </p:cNvPr>
          <p:cNvSpPr>
            <a:spLocks noGrp="1"/>
          </p:cNvSpPr>
          <p:nvPr/>
        </p:nvSpPr>
        <p:spPr>
          <a:xfrm>
            <a:off x="2009775" y="3932767"/>
            <a:ext cx="2428875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Классификация</a:t>
            </a:r>
          </a:p>
        </p:txBody>
      </p:sp>
      <p:sp>
        <p:nvSpPr>
          <p:cNvPr id="24" name="table-r4-c2">
            <a:extLst>
              <a:ext uri="{FF2B5EF4-FFF2-40B4-BE49-F238E27FC236}">
                <a16:creationId xmlns:a16="http://schemas.microsoft.com/office/drawing/2014/main" id="{C653DC7B-ECAB-44D0-9C91-089634C481C7}"/>
              </a:ext>
            </a:extLst>
          </p:cNvPr>
          <p:cNvSpPr>
            <a:spLocks noGrp="1"/>
          </p:cNvSpPr>
          <p:nvPr/>
        </p:nvSpPr>
        <p:spPr>
          <a:xfrm>
            <a:off x="4438650" y="3932767"/>
            <a:ext cx="3429000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1536→128→1</a:t>
            </a:r>
          </a:p>
        </p:txBody>
      </p:sp>
      <p:sp>
        <p:nvSpPr>
          <p:cNvPr id="26" name="table-r5-c0">
            <a:extLst>
              <a:ext uri="{FF2B5EF4-FFF2-40B4-BE49-F238E27FC236}">
                <a16:creationId xmlns:a16="http://schemas.microsoft.com/office/drawing/2014/main" id="{10382244-6871-4DBC-8454-B8242725D9A8}"/>
              </a:ext>
            </a:extLst>
          </p:cNvPr>
          <p:cNvSpPr>
            <a:spLocks noGrp="1"/>
          </p:cNvSpPr>
          <p:nvPr/>
        </p:nvSpPr>
        <p:spPr>
          <a:xfrm>
            <a:off x="390525" y="4373033"/>
            <a:ext cx="1619250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27" name="table-r5-c1">
            <a:extLst>
              <a:ext uri="{FF2B5EF4-FFF2-40B4-BE49-F238E27FC236}">
                <a16:creationId xmlns:a16="http://schemas.microsoft.com/office/drawing/2014/main" id="{429F2CA9-19C2-45D9-82C1-B0B115D2FA6E}"/>
              </a:ext>
            </a:extLst>
          </p:cNvPr>
          <p:cNvSpPr>
            <a:spLocks noGrp="1"/>
          </p:cNvSpPr>
          <p:nvPr/>
        </p:nvSpPr>
        <p:spPr>
          <a:xfrm>
            <a:off x="2009775" y="4373033"/>
            <a:ext cx="2428875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Seeds / epochs / batch</a:t>
            </a:r>
          </a:p>
        </p:txBody>
      </p:sp>
      <p:sp>
        <p:nvSpPr>
          <p:cNvPr id="28" name="table-r5-c2">
            <a:extLst>
              <a:ext uri="{FF2B5EF4-FFF2-40B4-BE49-F238E27FC236}">
                <a16:creationId xmlns:a16="http://schemas.microsoft.com/office/drawing/2014/main" id="{CE123855-D93E-4960-B4CF-5E8A66F260E8}"/>
              </a:ext>
            </a:extLst>
          </p:cNvPr>
          <p:cNvSpPr>
            <a:spLocks noGrp="1"/>
          </p:cNvSpPr>
          <p:nvPr/>
        </p:nvSpPr>
        <p:spPr>
          <a:xfrm>
            <a:off x="4438650" y="4373033"/>
            <a:ext cx="3429000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5 / 400 / 64</a:t>
            </a:r>
          </a:p>
        </p:txBody>
      </p:sp>
      <p:sp>
        <p:nvSpPr>
          <p:cNvPr id="30" name="table-r6-c0">
            <a:extLst>
              <a:ext uri="{FF2B5EF4-FFF2-40B4-BE49-F238E27FC236}">
                <a16:creationId xmlns:a16="http://schemas.microsoft.com/office/drawing/2014/main" id="{FB151224-ABDB-4460-B86B-205111D71E05}"/>
              </a:ext>
            </a:extLst>
          </p:cNvPr>
          <p:cNvSpPr>
            <a:spLocks noGrp="1"/>
          </p:cNvSpPr>
          <p:nvPr/>
        </p:nvSpPr>
        <p:spPr>
          <a:xfrm>
            <a:off x="390525" y="4813300"/>
            <a:ext cx="1619250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Optimizer</a:t>
            </a:r>
          </a:p>
        </p:txBody>
      </p:sp>
      <p:sp>
        <p:nvSpPr>
          <p:cNvPr id="31" name="table-r6-c1">
            <a:extLst>
              <a:ext uri="{FF2B5EF4-FFF2-40B4-BE49-F238E27FC236}">
                <a16:creationId xmlns:a16="http://schemas.microsoft.com/office/drawing/2014/main" id="{F0AA84DE-E844-4B96-AE9B-C1ABDB1009F7}"/>
              </a:ext>
            </a:extLst>
          </p:cNvPr>
          <p:cNvSpPr>
            <a:spLocks noGrp="1"/>
          </p:cNvSpPr>
          <p:nvPr/>
        </p:nvSpPr>
        <p:spPr>
          <a:xfrm>
            <a:off x="2009775" y="4813300"/>
            <a:ext cx="2428875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Adam / LR / schedule</a:t>
            </a:r>
          </a:p>
        </p:txBody>
      </p:sp>
      <p:sp>
        <p:nvSpPr>
          <p:cNvPr id="32" name="table-r6-c2">
            <a:extLst>
              <a:ext uri="{FF2B5EF4-FFF2-40B4-BE49-F238E27FC236}">
                <a16:creationId xmlns:a16="http://schemas.microsoft.com/office/drawing/2014/main" id="{FD509A7B-80B5-4389-8604-DF0BBA15ECB3}"/>
              </a:ext>
            </a:extLst>
          </p:cNvPr>
          <p:cNvSpPr>
            <a:spLocks noGrp="1"/>
          </p:cNvSpPr>
          <p:nvPr/>
        </p:nvSpPr>
        <p:spPr>
          <a:xfrm>
            <a:off x="4438650" y="4813300"/>
            <a:ext cx="3429000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1e−3 / cosine</a:t>
            </a:r>
          </a:p>
        </p:txBody>
      </p:sp>
      <p:sp>
        <p:nvSpPr>
          <p:cNvPr id="34" name="table-r7-c0">
            <a:extLst>
              <a:ext uri="{FF2B5EF4-FFF2-40B4-BE49-F238E27FC236}">
                <a16:creationId xmlns:a16="http://schemas.microsoft.com/office/drawing/2014/main" id="{D58864A8-727B-4EF6-95E5-DA16018DACBA}"/>
              </a:ext>
            </a:extLst>
          </p:cNvPr>
          <p:cNvSpPr>
            <a:spLocks noGrp="1"/>
          </p:cNvSpPr>
          <p:nvPr/>
        </p:nvSpPr>
        <p:spPr>
          <a:xfrm>
            <a:off x="390525" y="5253567"/>
            <a:ext cx="1619250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Augmentation</a:t>
            </a:r>
          </a:p>
        </p:txBody>
      </p:sp>
      <p:sp>
        <p:nvSpPr>
          <p:cNvPr id="35" name="table-r7-c1">
            <a:extLst>
              <a:ext uri="{FF2B5EF4-FFF2-40B4-BE49-F238E27FC236}">
                <a16:creationId xmlns:a16="http://schemas.microsoft.com/office/drawing/2014/main" id="{136F9293-C8B8-4878-9315-5B94795BCE05}"/>
              </a:ext>
            </a:extLst>
          </p:cNvPr>
          <p:cNvSpPr>
            <a:spLocks noGrp="1"/>
          </p:cNvSpPr>
          <p:nvPr/>
        </p:nvSpPr>
        <p:spPr>
          <a:xfrm>
            <a:off x="2009775" y="5253567"/>
            <a:ext cx="2428875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Gaussian noise</a:t>
            </a:r>
          </a:p>
        </p:txBody>
      </p:sp>
      <p:sp>
        <p:nvSpPr>
          <p:cNvPr id="36" name="table-r7-c2">
            <a:extLst>
              <a:ext uri="{FF2B5EF4-FFF2-40B4-BE49-F238E27FC236}">
                <a16:creationId xmlns:a16="http://schemas.microsoft.com/office/drawing/2014/main" id="{69FDBCB2-87BF-4621-9753-A2D95EA80435}"/>
              </a:ext>
            </a:extLst>
          </p:cNvPr>
          <p:cNvSpPr>
            <a:spLocks noGrp="1"/>
          </p:cNvSpPr>
          <p:nvPr/>
        </p:nvSpPr>
        <p:spPr>
          <a:xfrm>
            <a:off x="4438650" y="5253567"/>
            <a:ext cx="3429000" cy="440267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σ = 0.005 × peak</a:t>
            </a:r>
          </a:p>
        </p:txBody>
      </p:sp>
      <p:sp>
        <p:nvSpPr>
          <p:cNvPr id="38" name="table-r8-c0">
            <a:extLst>
              <a:ext uri="{FF2B5EF4-FFF2-40B4-BE49-F238E27FC236}">
                <a16:creationId xmlns:a16="http://schemas.microsoft.com/office/drawing/2014/main" id="{1084EF16-ACAA-40A6-BF16-E543ACA0B292}"/>
              </a:ext>
            </a:extLst>
          </p:cNvPr>
          <p:cNvSpPr>
            <a:spLocks noGrp="1"/>
          </p:cNvSpPr>
          <p:nvPr/>
        </p:nvSpPr>
        <p:spPr>
          <a:xfrm>
            <a:off x="390525" y="5693833"/>
            <a:ext cx="1619250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Ranker</a:t>
            </a:r>
          </a:p>
        </p:txBody>
      </p:sp>
      <p:sp>
        <p:nvSpPr>
          <p:cNvPr id="39" name="table-r8-c1">
            <a:extLst>
              <a:ext uri="{FF2B5EF4-FFF2-40B4-BE49-F238E27FC236}">
                <a16:creationId xmlns:a16="http://schemas.microsoft.com/office/drawing/2014/main" id="{197AE4E3-7E38-49CD-850E-0445C1DC0ACA}"/>
              </a:ext>
            </a:extLst>
          </p:cNvPr>
          <p:cNvSpPr>
            <a:spLocks noGrp="1"/>
          </p:cNvSpPr>
          <p:nvPr/>
        </p:nvSpPr>
        <p:spPr>
          <a:xfrm>
            <a:off x="2009775" y="5693833"/>
            <a:ext cx="2428875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MLP / steps</a:t>
            </a:r>
          </a:p>
        </p:txBody>
      </p:sp>
      <p:sp>
        <p:nvSpPr>
          <p:cNvPr id="40" name="table-r8-c2">
            <a:extLst>
              <a:ext uri="{FF2B5EF4-FFF2-40B4-BE49-F238E27FC236}">
                <a16:creationId xmlns:a16="http://schemas.microsoft.com/office/drawing/2014/main" id="{35EFA28E-DD61-4D25-BAD4-A5C7CE0121A2}"/>
              </a:ext>
            </a:extLst>
          </p:cNvPr>
          <p:cNvSpPr>
            <a:spLocks noGrp="1"/>
          </p:cNvSpPr>
          <p:nvPr/>
        </p:nvSpPr>
        <p:spPr>
          <a:xfrm>
            <a:off x="4438650" y="5693833"/>
            <a:ext cx="3429000" cy="440267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19→256→256→1 / 3000</a:t>
            </a:r>
          </a:p>
        </p:txBody>
      </p:sp>
    </p:spTree>
    <p:extLst>
      <p:ext uri="{BB962C8B-B14F-4D97-AF65-F5344CB8AC3E}">
        <p14:creationId xmlns:p14="http://schemas.microsoft.com/office/powerpoint/2010/main" val="13147980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837</Words>
  <Application>Microsoft Macintosh PowerPoint</Application>
  <DocSecurity>0</DocSecurity>
  <PresentationFormat>Широкоэкранный</PresentationFormat>
  <Paragraphs>168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Aidar Ryazhapov</cp:lastModifiedBy>
  <cp:revision>2</cp:revision>
  <dcterms:created xsi:type="dcterms:W3CDTF">2026-07-28T23:30:18Z</dcterms:created>
  <dcterms:modified xsi:type="dcterms:W3CDTF">2026-07-29T06:44:43Z</dcterms:modified>
</cp:coreProperties>
</file>